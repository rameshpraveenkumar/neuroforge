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ublic Sans Bold" charset="1" panose="00000000000000000000"/>
      <p:regular r:id="rId14"/>
    </p:embeddedFont>
    <p:embeddedFont>
      <p:font typeface="Playfair Display" charset="1" panose="00000500000000000000"/>
      <p:regular r:id="rId15"/>
    </p:embeddedFont>
    <p:embeddedFont>
      <p:font typeface="Public Sans"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706" y="4514765"/>
            <a:ext cx="16230594" cy="38509"/>
          </a:xfrm>
          <a:prstGeom prst="line">
            <a:avLst/>
          </a:prstGeom>
          <a:ln cap="flat" w="9525">
            <a:solidFill>
              <a:srgbClr val="2B2C30"/>
            </a:solidFill>
            <a:prstDash val="solid"/>
            <a:headEnd type="none" len="sm" w="sm"/>
            <a:tailEnd type="none" len="sm" w="sm"/>
          </a:ln>
        </p:spPr>
      </p:sp>
      <p:sp>
        <p:nvSpPr>
          <p:cNvPr name="TextBox 3" id="3"/>
          <p:cNvSpPr txBox="true"/>
          <p:nvPr/>
        </p:nvSpPr>
        <p:spPr>
          <a:xfrm rot="0">
            <a:off x="1006882" y="4728792"/>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NEUROFORGE ENTERPRICE SDLC PLATFORM</a:t>
            </a:r>
          </a:p>
        </p:txBody>
      </p:sp>
      <p:sp>
        <p:nvSpPr>
          <p:cNvPr name="TextBox 4" id="4"/>
          <p:cNvSpPr txBox="true"/>
          <p:nvPr/>
        </p:nvSpPr>
        <p:spPr>
          <a:xfrm rot="0">
            <a:off x="850974" y="2332416"/>
            <a:ext cx="16408332" cy="2084083"/>
          </a:xfrm>
          <a:prstGeom prst="rect">
            <a:avLst/>
          </a:prstGeom>
        </p:spPr>
        <p:txBody>
          <a:bodyPr anchor="t" rtlCol="false" tIns="0" lIns="0" bIns="0" rIns="0">
            <a:spAutoFit/>
          </a:bodyPr>
          <a:lstStyle/>
          <a:p>
            <a:pPr algn="l">
              <a:lnSpc>
                <a:spcPts val="15250"/>
              </a:lnSpc>
            </a:pPr>
            <a:r>
              <a:rPr lang="en-US" sz="16758" spc="83">
                <a:solidFill>
                  <a:srgbClr val="2B2C30"/>
                </a:solidFill>
                <a:latin typeface="Playfair Display"/>
                <a:ea typeface="Playfair Display"/>
                <a:cs typeface="Playfair Display"/>
                <a:sym typeface="Playfair Display"/>
              </a:rPr>
              <a:t>Project Modules</a:t>
            </a:r>
          </a:p>
        </p:txBody>
      </p:sp>
      <p:sp>
        <p:nvSpPr>
          <p:cNvPr name="TextBox 5" id="5"/>
          <p:cNvSpPr txBox="true"/>
          <p:nvPr/>
        </p:nvSpPr>
        <p:spPr>
          <a:xfrm rot="0">
            <a:off x="1016407" y="8479155"/>
            <a:ext cx="7862435" cy="864870"/>
          </a:xfrm>
          <a:prstGeom prst="rect">
            <a:avLst/>
          </a:prstGeom>
        </p:spPr>
        <p:txBody>
          <a:bodyPr anchor="t" rtlCol="false" tIns="0" lIns="0" bIns="0" rIns="0">
            <a:spAutoFit/>
          </a:bodyPr>
          <a:lstStyle/>
          <a:p>
            <a:pPr algn="l">
              <a:lnSpc>
                <a:spcPts val="3450"/>
              </a:lnSpc>
            </a:pPr>
            <a:r>
              <a:rPr lang="en-US" sz="2300" b="true">
                <a:solidFill>
                  <a:srgbClr val="2B2C30"/>
                </a:solidFill>
                <a:latin typeface="Public Sans Bold"/>
                <a:ea typeface="Public Sans Bold"/>
                <a:cs typeface="Public Sans Bold"/>
                <a:sym typeface="Public Sans Bold"/>
              </a:rPr>
              <a:t>PRESENTED BY : </a:t>
            </a:r>
          </a:p>
          <a:p>
            <a:pPr algn="l">
              <a:lnSpc>
                <a:spcPts val="3450"/>
              </a:lnSpc>
            </a:pPr>
            <a:r>
              <a:rPr lang="en-US" sz="2300">
                <a:solidFill>
                  <a:srgbClr val="2B2C30"/>
                </a:solidFill>
                <a:latin typeface="Public Sans"/>
                <a:ea typeface="Public Sans"/>
                <a:cs typeface="Public Sans"/>
                <a:sym typeface="Public Sans"/>
              </a:rPr>
              <a:t>Praveen Kumar Ramesh</a:t>
            </a:r>
          </a:p>
        </p:txBody>
      </p:sp>
      <p:sp>
        <p:nvSpPr>
          <p:cNvPr name="TextBox 6" id="6"/>
          <p:cNvSpPr txBox="true"/>
          <p:nvPr/>
        </p:nvSpPr>
        <p:spPr>
          <a:xfrm rot="0">
            <a:off x="14990680" y="8630746"/>
            <a:ext cx="2268626" cy="368765"/>
          </a:xfrm>
          <a:prstGeom prst="rect">
            <a:avLst/>
          </a:prstGeom>
        </p:spPr>
        <p:txBody>
          <a:bodyPr anchor="t" rtlCol="false" tIns="0" lIns="0" bIns="0" rIns="0">
            <a:spAutoFit/>
          </a:bodyPr>
          <a:lstStyle/>
          <a:p>
            <a:pPr algn="l">
              <a:lnSpc>
                <a:spcPts val="2717"/>
              </a:lnSpc>
            </a:pPr>
            <a:r>
              <a:rPr lang="en-US" sz="2986" spc="14">
                <a:solidFill>
                  <a:srgbClr val="2B2C30"/>
                </a:solidFill>
                <a:latin typeface="Playfair Display"/>
                <a:ea typeface="Playfair Display"/>
                <a:cs typeface="Playfair Display"/>
                <a:sym typeface="Playfair Display"/>
              </a:rPr>
              <a:t>july 29, 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28700" y="1437587"/>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DEVELOPMENT METHODOLOGY: AGILE</a:t>
            </a:r>
          </a:p>
        </p:txBody>
      </p:sp>
      <p:sp>
        <p:nvSpPr>
          <p:cNvPr name="AutoShape 3" id="3"/>
          <p:cNvSpPr/>
          <p:nvPr/>
        </p:nvSpPr>
        <p:spPr>
          <a:xfrm flipV="true">
            <a:off x="1028695" y="1426396"/>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95" y="191322"/>
            <a:ext cx="16408332" cy="1235074"/>
          </a:xfrm>
          <a:prstGeom prst="rect">
            <a:avLst/>
          </a:prstGeom>
        </p:spPr>
        <p:txBody>
          <a:bodyPr anchor="t" rtlCol="false" tIns="0" lIns="0" bIns="0" rIns="0">
            <a:spAutoFit/>
          </a:bodyPr>
          <a:lstStyle/>
          <a:p>
            <a:pPr algn="l">
              <a:lnSpc>
                <a:spcPts val="9099"/>
              </a:lnSpc>
            </a:pPr>
            <a:r>
              <a:rPr lang="en-US" sz="9999" spc="49">
                <a:solidFill>
                  <a:srgbClr val="2B2C30"/>
                </a:solidFill>
                <a:latin typeface="Playfair Display"/>
                <a:ea typeface="Playfair Display"/>
                <a:cs typeface="Playfair Display"/>
                <a:sym typeface="Playfair Display"/>
              </a:rPr>
              <a:t>Sprint Planning</a:t>
            </a:r>
          </a:p>
        </p:txBody>
      </p:sp>
      <p:sp>
        <p:nvSpPr>
          <p:cNvPr name="TextBox 5" id="5"/>
          <p:cNvSpPr txBox="true"/>
          <p:nvPr/>
        </p:nvSpPr>
        <p:spPr>
          <a:xfrm rot="0">
            <a:off x="1028700" y="2774899"/>
            <a:ext cx="16230611" cy="5741670"/>
          </a:xfrm>
          <a:prstGeom prst="rect">
            <a:avLst/>
          </a:prstGeom>
        </p:spPr>
        <p:txBody>
          <a:bodyPr anchor="t" rtlCol="false" tIns="0" lIns="0" bIns="0" rIns="0">
            <a:spAutoFit/>
          </a:bodyPr>
          <a:lstStyle/>
          <a:p>
            <a:pPr algn="just">
              <a:lnSpc>
                <a:spcPts val="4199"/>
              </a:lnSpc>
            </a:pPr>
            <a:r>
              <a:rPr lang="en-US" sz="2799">
                <a:solidFill>
                  <a:srgbClr val="2B2C30"/>
                </a:solidFill>
                <a:latin typeface="Public Sans"/>
                <a:ea typeface="Public Sans"/>
                <a:cs typeface="Public Sans"/>
                <a:sym typeface="Public Sans"/>
              </a:rPr>
              <a:t>The NeuroForge Enterprise SDLC Platform will be developed using the Agile Software Development Methodology, which emphasizes iterative development, continuous collaboration, and frequent delivery of working software. Instead of building the entire system at once, the project is divided into 4 sprints, with each sprint lasting 2 weeks. At the end of every sprint, a functional module is completed, tested, reviewed, and improved based on stakeholder feedback.</a:t>
            </a:r>
          </a:p>
          <a:p>
            <a:pPr algn="just">
              <a:lnSpc>
                <a:spcPts val="4199"/>
              </a:lnSpc>
            </a:pPr>
          </a:p>
          <a:p>
            <a:pPr algn="l">
              <a:lnSpc>
                <a:spcPts val="4199"/>
              </a:lnSpc>
            </a:pPr>
            <a:r>
              <a:rPr lang="en-US" sz="2799" b="true">
                <a:solidFill>
                  <a:srgbClr val="2B2C30"/>
                </a:solidFill>
                <a:latin typeface="Public Sans Bold"/>
                <a:ea typeface="Public Sans Bold"/>
                <a:cs typeface="Public Sans Bold"/>
                <a:sym typeface="Public Sans Bold"/>
              </a:rPr>
              <a:t>Project Duration:</a:t>
            </a:r>
            <a:r>
              <a:rPr lang="en-US" sz="2799">
                <a:solidFill>
                  <a:srgbClr val="2B2C30"/>
                </a:solidFill>
                <a:latin typeface="Public Sans"/>
                <a:ea typeface="Public Sans"/>
                <a:cs typeface="Public Sans"/>
                <a:sym typeface="Public Sans"/>
              </a:rPr>
              <a:t> 8 Weeks</a:t>
            </a:r>
          </a:p>
          <a:p>
            <a:pPr algn="l">
              <a:lnSpc>
                <a:spcPts val="4199"/>
              </a:lnSpc>
            </a:pPr>
          </a:p>
          <a:p>
            <a:pPr algn="l">
              <a:lnSpc>
                <a:spcPts val="4199"/>
              </a:lnSpc>
            </a:pPr>
            <a:r>
              <a:rPr lang="en-US" sz="2799" b="true">
                <a:solidFill>
                  <a:srgbClr val="2B2C30"/>
                </a:solidFill>
                <a:latin typeface="Public Sans Bold"/>
                <a:ea typeface="Public Sans Bold"/>
                <a:cs typeface="Public Sans Bold"/>
                <a:sym typeface="Public Sans Bold"/>
              </a:rPr>
              <a:t>Sprint Duration:</a:t>
            </a:r>
            <a:r>
              <a:rPr lang="en-US" sz="2799">
                <a:solidFill>
                  <a:srgbClr val="2B2C30"/>
                </a:solidFill>
                <a:latin typeface="Public Sans"/>
                <a:ea typeface="Public Sans"/>
                <a:cs typeface="Public Sans"/>
                <a:sym typeface="Public Sans"/>
              </a:rPr>
              <a:t> 2 Weeks</a:t>
            </a:r>
          </a:p>
          <a:p>
            <a:pPr algn="l">
              <a:lnSpc>
                <a:spcPts val="4199"/>
              </a:lnSpc>
            </a:pPr>
          </a:p>
          <a:p>
            <a:pPr algn="just">
              <a:lnSpc>
                <a:spcPts val="4199"/>
              </a:lnSpc>
            </a:pPr>
            <a:r>
              <a:rPr lang="en-US" b="true" sz="2799">
                <a:solidFill>
                  <a:srgbClr val="2B2C30"/>
                </a:solidFill>
                <a:latin typeface="Public Sans Bold"/>
                <a:ea typeface="Public Sans Bold"/>
                <a:cs typeface="Public Sans Bold"/>
                <a:sym typeface="Public Sans Bold"/>
              </a:rPr>
              <a:t>Total Sprints:</a:t>
            </a:r>
            <a:r>
              <a:rPr lang="en-US" sz="2799">
                <a:solidFill>
                  <a:srgbClr val="2B2C30"/>
                </a:solidFill>
                <a:latin typeface="Public Sans"/>
                <a:ea typeface="Public Sans"/>
                <a:cs typeface="Public Sans"/>
                <a:sym typeface="Public Sans"/>
              </a:rPr>
              <a:t> 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941081" y="1150441"/>
            <a:ext cx="16405838" cy="8948639"/>
          </a:xfrm>
          <a:custGeom>
            <a:avLst/>
            <a:gdLst/>
            <a:ahLst/>
            <a:cxnLst/>
            <a:rect r="r" b="b" t="t" l="l"/>
            <a:pathLst>
              <a:path h="8948639" w="16405838">
                <a:moveTo>
                  <a:pt x="0" y="0"/>
                </a:moveTo>
                <a:lnTo>
                  <a:pt x="16405838" y="0"/>
                </a:lnTo>
                <a:lnTo>
                  <a:pt x="16405838" y="8948639"/>
                </a:lnTo>
                <a:lnTo>
                  <a:pt x="0" y="8948639"/>
                </a:lnTo>
                <a:lnTo>
                  <a:pt x="0" y="0"/>
                </a:lnTo>
                <a:close/>
              </a:path>
            </a:pathLst>
          </a:custGeom>
          <a:blipFill>
            <a:blip r:embed="rId2"/>
            <a:stretch>
              <a:fillRect l="0" t="0" r="0" b="0"/>
            </a:stretch>
          </a:blipFill>
        </p:spPr>
      </p:sp>
      <p:sp>
        <p:nvSpPr>
          <p:cNvPr name="TextBox 3" id="3"/>
          <p:cNvSpPr txBox="true"/>
          <p:nvPr/>
        </p:nvSpPr>
        <p:spPr>
          <a:xfrm rot="0">
            <a:off x="1028700" y="57790"/>
            <a:ext cx="9373716" cy="970910"/>
          </a:xfrm>
          <a:prstGeom prst="rect">
            <a:avLst/>
          </a:prstGeom>
        </p:spPr>
        <p:txBody>
          <a:bodyPr anchor="t" rtlCol="false" tIns="0" lIns="0" bIns="0" rIns="0">
            <a:spAutoFit/>
          </a:bodyPr>
          <a:lstStyle/>
          <a:p>
            <a:pPr algn="l">
              <a:lnSpc>
                <a:spcPts val="7865"/>
              </a:lnSpc>
            </a:pPr>
            <a:r>
              <a:rPr lang="en-US" sz="6050" spc="30">
                <a:solidFill>
                  <a:srgbClr val="2B2C30"/>
                </a:solidFill>
                <a:latin typeface="Playfair Display"/>
                <a:ea typeface="Playfair Display"/>
                <a:cs typeface="Playfair Display"/>
                <a:sym typeface="Playfair Display"/>
              </a:rPr>
              <a:t>MODULE ARCHITECTURE </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28700" y="1437587"/>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FOUNDATION &amp; PROJECT MANAGEMENT</a:t>
            </a:r>
          </a:p>
        </p:txBody>
      </p:sp>
      <p:sp>
        <p:nvSpPr>
          <p:cNvPr name="AutoShape 3" id="3"/>
          <p:cNvSpPr/>
          <p:nvPr/>
        </p:nvSpPr>
        <p:spPr>
          <a:xfrm flipV="true">
            <a:off x="1028695" y="1426396"/>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89" y="191322"/>
            <a:ext cx="16408332" cy="1235074"/>
          </a:xfrm>
          <a:prstGeom prst="rect">
            <a:avLst/>
          </a:prstGeom>
        </p:spPr>
        <p:txBody>
          <a:bodyPr anchor="t" rtlCol="false" tIns="0" lIns="0" bIns="0" rIns="0">
            <a:spAutoFit/>
          </a:bodyPr>
          <a:lstStyle/>
          <a:p>
            <a:pPr algn="l">
              <a:lnSpc>
                <a:spcPts val="9099"/>
              </a:lnSpc>
            </a:pPr>
            <a:r>
              <a:rPr lang="en-US" sz="9999" spc="49">
                <a:solidFill>
                  <a:srgbClr val="2B2C30"/>
                </a:solidFill>
                <a:latin typeface="Playfair Display"/>
                <a:ea typeface="Playfair Display"/>
                <a:cs typeface="Playfair Display"/>
                <a:sym typeface="Playfair Display"/>
              </a:rPr>
              <a:t>Sprint 1 (Weeks 1-2)</a:t>
            </a:r>
          </a:p>
        </p:txBody>
      </p:sp>
      <p:sp>
        <p:nvSpPr>
          <p:cNvPr name="TextBox 5" id="5"/>
          <p:cNvSpPr txBox="true"/>
          <p:nvPr/>
        </p:nvSpPr>
        <p:spPr>
          <a:xfrm rot="0">
            <a:off x="1028689" y="2227065"/>
            <a:ext cx="13416389" cy="7837170"/>
          </a:xfrm>
          <a:prstGeom prst="rect">
            <a:avLst/>
          </a:prstGeom>
        </p:spPr>
        <p:txBody>
          <a:bodyPr anchor="t" rtlCol="false" tIns="0" lIns="0" bIns="0" rIns="0">
            <a:spAutoFit/>
          </a:bodyPr>
          <a:lstStyle/>
          <a:p>
            <a:pPr algn="l">
              <a:lnSpc>
                <a:spcPts val="4199"/>
              </a:lnSpc>
            </a:pPr>
            <a:r>
              <a:rPr lang="en-US" sz="2799" b="true">
                <a:solidFill>
                  <a:srgbClr val="2B2C30"/>
                </a:solidFill>
                <a:latin typeface="Public Sans Bold"/>
                <a:ea typeface="Public Sans Bold"/>
                <a:cs typeface="Public Sans Bold"/>
                <a:sym typeface="Public Sans Bold"/>
              </a:rPr>
              <a:t>Objective</a:t>
            </a:r>
          </a:p>
          <a:p>
            <a:pPr algn="l">
              <a:lnSpc>
                <a:spcPts val="4199"/>
              </a:lnSpc>
            </a:pPr>
            <a:r>
              <a:rPr lang="en-US" sz="2799">
                <a:solidFill>
                  <a:srgbClr val="2B2C30"/>
                </a:solidFill>
                <a:latin typeface="Public Sans"/>
                <a:ea typeface="Public Sans"/>
                <a:cs typeface="Public Sans"/>
                <a:sym typeface="Public Sans"/>
              </a:rPr>
              <a:t>Build the foundation of the platform by implementing user management, authentication, and project planning capabilities.</a:t>
            </a:r>
          </a:p>
          <a:p>
            <a:pPr algn="l">
              <a:lnSpc>
                <a:spcPts val="4199"/>
              </a:lnSpc>
            </a:pPr>
            <a:r>
              <a:rPr lang="en-US" sz="2799" b="true">
                <a:solidFill>
                  <a:srgbClr val="2B2C30"/>
                </a:solidFill>
                <a:latin typeface="Public Sans Bold"/>
                <a:ea typeface="Public Sans Bold"/>
                <a:cs typeface="Public Sans Bold"/>
                <a:sym typeface="Public Sans Bold"/>
              </a:rPr>
              <a:t>Modules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User Authentication &amp; Login</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Role-Based Access Control (RBAC)</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User Management</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Requirement Management</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Project &amp; Sprint Planning</a:t>
            </a:r>
          </a:p>
          <a:p>
            <a:pPr algn="l">
              <a:lnSpc>
                <a:spcPts val="4199"/>
              </a:lnSpc>
            </a:pPr>
            <a:r>
              <a:rPr lang="en-US" sz="2799" b="true">
                <a:solidFill>
                  <a:srgbClr val="2B2C30"/>
                </a:solidFill>
                <a:latin typeface="Public Sans Bold"/>
                <a:ea typeface="Public Sans Bold"/>
                <a:cs typeface="Public Sans Bold"/>
                <a:sym typeface="Public Sans Bold"/>
              </a:rPr>
              <a:t>Deliverables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Secure user registration and login</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Different user roles (Admin, Manager, Developer, Tester, etc.)</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Project creation and configuration</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Requirement collection and management</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Sprint and task creation</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28700" y="1437587"/>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DEVELOPMENT &amp; COLLABORATION</a:t>
            </a:r>
          </a:p>
        </p:txBody>
      </p:sp>
      <p:sp>
        <p:nvSpPr>
          <p:cNvPr name="AutoShape 3" id="3"/>
          <p:cNvSpPr/>
          <p:nvPr/>
        </p:nvSpPr>
        <p:spPr>
          <a:xfrm flipV="true">
            <a:off x="1028711" y="1426396"/>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89" y="229830"/>
            <a:ext cx="16408332" cy="1235074"/>
          </a:xfrm>
          <a:prstGeom prst="rect">
            <a:avLst/>
          </a:prstGeom>
        </p:spPr>
        <p:txBody>
          <a:bodyPr anchor="t" rtlCol="false" tIns="0" lIns="0" bIns="0" rIns="0">
            <a:spAutoFit/>
          </a:bodyPr>
          <a:lstStyle/>
          <a:p>
            <a:pPr algn="l">
              <a:lnSpc>
                <a:spcPts val="9099"/>
              </a:lnSpc>
            </a:pPr>
            <a:r>
              <a:rPr lang="en-US" sz="9999" spc="49">
                <a:solidFill>
                  <a:srgbClr val="2B2C30"/>
                </a:solidFill>
                <a:latin typeface="Playfair Display"/>
                <a:ea typeface="Playfair Display"/>
                <a:cs typeface="Playfair Display"/>
                <a:sym typeface="Playfair Display"/>
              </a:rPr>
              <a:t>Sprint 2 (Weeks 3-4)</a:t>
            </a:r>
          </a:p>
        </p:txBody>
      </p:sp>
      <p:sp>
        <p:nvSpPr>
          <p:cNvPr name="TextBox 5" id="5"/>
          <p:cNvSpPr txBox="true"/>
          <p:nvPr/>
        </p:nvSpPr>
        <p:spPr>
          <a:xfrm rot="0">
            <a:off x="1028689" y="2227065"/>
            <a:ext cx="13416389" cy="7837170"/>
          </a:xfrm>
          <a:prstGeom prst="rect">
            <a:avLst/>
          </a:prstGeom>
        </p:spPr>
        <p:txBody>
          <a:bodyPr anchor="t" rtlCol="false" tIns="0" lIns="0" bIns="0" rIns="0">
            <a:spAutoFit/>
          </a:bodyPr>
          <a:lstStyle/>
          <a:p>
            <a:pPr algn="l">
              <a:lnSpc>
                <a:spcPts val="4199"/>
              </a:lnSpc>
            </a:pPr>
            <a:r>
              <a:rPr lang="en-US" sz="2799" b="true">
                <a:solidFill>
                  <a:srgbClr val="2B2C30"/>
                </a:solidFill>
                <a:latin typeface="Public Sans Bold"/>
                <a:ea typeface="Public Sans Bold"/>
                <a:cs typeface="Public Sans Bold"/>
                <a:sym typeface="Public Sans Bold"/>
              </a:rPr>
              <a:t>Objective</a:t>
            </a:r>
          </a:p>
          <a:p>
            <a:pPr algn="l">
              <a:lnSpc>
                <a:spcPts val="4199"/>
              </a:lnSpc>
            </a:pPr>
            <a:r>
              <a:rPr lang="en-US" sz="2799">
                <a:solidFill>
                  <a:srgbClr val="2B2C30"/>
                </a:solidFill>
                <a:latin typeface="Public Sans"/>
                <a:ea typeface="Public Sans"/>
                <a:cs typeface="Public Sans"/>
                <a:sym typeface="Public Sans"/>
              </a:rPr>
              <a:t>Develop modules that improve collaboration and assist developers during software development.</a:t>
            </a:r>
          </a:p>
          <a:p>
            <a:pPr algn="l">
              <a:lnSpc>
                <a:spcPts val="4199"/>
              </a:lnSpc>
            </a:pPr>
            <a:r>
              <a:rPr lang="en-US" sz="2799" b="true">
                <a:solidFill>
                  <a:srgbClr val="2B2C30"/>
                </a:solidFill>
                <a:latin typeface="Public Sans Bold"/>
                <a:ea typeface="Public Sans Bold"/>
                <a:cs typeface="Public Sans Bold"/>
                <a:sym typeface="Public Sans Bold"/>
              </a:rPr>
              <a:t>Modules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Task Assignment &amp; Sprint Management</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AI-Powered Code Generation</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Documentation Management</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Git Integration &amp; Version Control</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Team Collaboration</a:t>
            </a:r>
          </a:p>
          <a:p>
            <a:pPr algn="l">
              <a:lnSpc>
                <a:spcPts val="4199"/>
              </a:lnSpc>
            </a:pPr>
            <a:r>
              <a:rPr lang="en-US" sz="2799" b="true">
                <a:solidFill>
                  <a:srgbClr val="2B2C30"/>
                </a:solidFill>
                <a:latin typeface="Public Sans Bold"/>
                <a:ea typeface="Public Sans Bold"/>
                <a:cs typeface="Public Sans Bold"/>
                <a:sym typeface="Public Sans Bold"/>
              </a:rPr>
              <a:t>Deliverables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Assign and track development tasks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AI-assisted code generation</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Automatic technical documentation</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Git repository integration</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Team notifications and collaboration features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28700" y="1437587"/>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TESTING &amp; DEVOPS</a:t>
            </a:r>
          </a:p>
        </p:txBody>
      </p:sp>
      <p:sp>
        <p:nvSpPr>
          <p:cNvPr name="AutoShape 3" id="3"/>
          <p:cNvSpPr/>
          <p:nvPr/>
        </p:nvSpPr>
        <p:spPr>
          <a:xfrm flipV="true">
            <a:off x="1028711" y="1426396"/>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700" y="191322"/>
            <a:ext cx="16408332" cy="1235074"/>
          </a:xfrm>
          <a:prstGeom prst="rect">
            <a:avLst/>
          </a:prstGeom>
        </p:spPr>
        <p:txBody>
          <a:bodyPr anchor="t" rtlCol="false" tIns="0" lIns="0" bIns="0" rIns="0">
            <a:spAutoFit/>
          </a:bodyPr>
          <a:lstStyle/>
          <a:p>
            <a:pPr algn="l">
              <a:lnSpc>
                <a:spcPts val="9099"/>
              </a:lnSpc>
            </a:pPr>
            <a:r>
              <a:rPr lang="en-US" sz="9999" spc="49">
                <a:solidFill>
                  <a:srgbClr val="2B2C30"/>
                </a:solidFill>
                <a:latin typeface="Playfair Display"/>
                <a:ea typeface="Playfair Display"/>
                <a:cs typeface="Playfair Display"/>
                <a:sym typeface="Playfair Display"/>
              </a:rPr>
              <a:t>Sprint 3 (Weeks 5-6)</a:t>
            </a:r>
          </a:p>
        </p:txBody>
      </p:sp>
      <p:sp>
        <p:nvSpPr>
          <p:cNvPr name="TextBox 5" id="5"/>
          <p:cNvSpPr txBox="true"/>
          <p:nvPr/>
        </p:nvSpPr>
        <p:spPr>
          <a:xfrm rot="0">
            <a:off x="1028689" y="2227065"/>
            <a:ext cx="12056950" cy="7837170"/>
          </a:xfrm>
          <a:prstGeom prst="rect">
            <a:avLst/>
          </a:prstGeom>
        </p:spPr>
        <p:txBody>
          <a:bodyPr anchor="t" rtlCol="false" tIns="0" lIns="0" bIns="0" rIns="0">
            <a:spAutoFit/>
          </a:bodyPr>
          <a:lstStyle/>
          <a:p>
            <a:pPr algn="l">
              <a:lnSpc>
                <a:spcPts val="4199"/>
              </a:lnSpc>
            </a:pPr>
            <a:r>
              <a:rPr lang="en-US" sz="2799" b="true">
                <a:solidFill>
                  <a:srgbClr val="2B2C30"/>
                </a:solidFill>
                <a:latin typeface="Public Sans Bold"/>
                <a:ea typeface="Public Sans Bold"/>
                <a:cs typeface="Public Sans Bold"/>
                <a:sym typeface="Public Sans Bold"/>
              </a:rPr>
              <a:t>Objective</a:t>
            </a:r>
          </a:p>
          <a:p>
            <a:pPr algn="l">
              <a:lnSpc>
                <a:spcPts val="4199"/>
              </a:lnSpc>
            </a:pPr>
            <a:r>
              <a:rPr lang="en-US" sz="2799">
                <a:solidFill>
                  <a:srgbClr val="2B2C30"/>
                </a:solidFill>
                <a:latin typeface="Public Sans"/>
                <a:ea typeface="Public Sans"/>
                <a:cs typeface="Public Sans"/>
                <a:sym typeface="Public Sans"/>
              </a:rPr>
              <a:t>Implement quality assurance and DevOps capabilities to automate testing and software deployment.</a:t>
            </a:r>
          </a:p>
          <a:p>
            <a:pPr algn="l">
              <a:lnSpc>
                <a:spcPts val="4199"/>
              </a:lnSpc>
            </a:pPr>
            <a:r>
              <a:rPr lang="en-US" sz="2799" b="true">
                <a:solidFill>
                  <a:srgbClr val="2B2C30"/>
                </a:solidFill>
                <a:latin typeface="Public Sans Bold"/>
                <a:ea typeface="Public Sans Bold"/>
                <a:cs typeface="Public Sans Bold"/>
                <a:sym typeface="Public Sans Bold"/>
              </a:rPr>
              <a:t>Modules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Automated Testing</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Bug Tracking</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Code Review</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CI/CD Pipeline</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Deployment Module</a:t>
            </a:r>
          </a:p>
          <a:p>
            <a:pPr algn="l">
              <a:lnSpc>
                <a:spcPts val="4199"/>
              </a:lnSpc>
            </a:pPr>
            <a:r>
              <a:rPr lang="en-US" sz="2799" b="true">
                <a:solidFill>
                  <a:srgbClr val="2B2C30"/>
                </a:solidFill>
                <a:latin typeface="Public Sans Bold"/>
                <a:ea typeface="Public Sans Bold"/>
                <a:cs typeface="Public Sans Bold"/>
                <a:sym typeface="Public Sans Bold"/>
              </a:rPr>
              <a:t>Deliverables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Automated unit and integration testing</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Bug reporting and issue management</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AI-assisted code quality analysis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Continuous Integration and Continuous Deployment</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Automated software deployment</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28700" y="1437587"/>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MONITORING, ANALYTICS &amp; FINAL DEPLOYMENT</a:t>
            </a:r>
          </a:p>
        </p:txBody>
      </p:sp>
      <p:sp>
        <p:nvSpPr>
          <p:cNvPr name="AutoShape 3" id="3"/>
          <p:cNvSpPr/>
          <p:nvPr/>
        </p:nvSpPr>
        <p:spPr>
          <a:xfrm flipV="true">
            <a:off x="1028695" y="1426396"/>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89" y="229830"/>
            <a:ext cx="16408332" cy="1235074"/>
          </a:xfrm>
          <a:prstGeom prst="rect">
            <a:avLst/>
          </a:prstGeom>
        </p:spPr>
        <p:txBody>
          <a:bodyPr anchor="t" rtlCol="false" tIns="0" lIns="0" bIns="0" rIns="0">
            <a:spAutoFit/>
          </a:bodyPr>
          <a:lstStyle/>
          <a:p>
            <a:pPr algn="l">
              <a:lnSpc>
                <a:spcPts val="9099"/>
              </a:lnSpc>
            </a:pPr>
            <a:r>
              <a:rPr lang="en-US" sz="9999" spc="49">
                <a:solidFill>
                  <a:srgbClr val="2B2C30"/>
                </a:solidFill>
                <a:latin typeface="Playfair Display"/>
                <a:ea typeface="Playfair Display"/>
                <a:cs typeface="Playfair Display"/>
                <a:sym typeface="Playfair Display"/>
              </a:rPr>
              <a:t>Sprint 4 (Weeks 7-8)</a:t>
            </a:r>
          </a:p>
        </p:txBody>
      </p:sp>
      <p:sp>
        <p:nvSpPr>
          <p:cNvPr name="TextBox 5" id="5"/>
          <p:cNvSpPr txBox="true"/>
          <p:nvPr/>
        </p:nvSpPr>
        <p:spPr>
          <a:xfrm rot="0">
            <a:off x="1028689" y="2227065"/>
            <a:ext cx="13071457" cy="8361045"/>
          </a:xfrm>
          <a:prstGeom prst="rect">
            <a:avLst/>
          </a:prstGeom>
        </p:spPr>
        <p:txBody>
          <a:bodyPr anchor="t" rtlCol="false" tIns="0" lIns="0" bIns="0" rIns="0">
            <a:spAutoFit/>
          </a:bodyPr>
          <a:lstStyle/>
          <a:p>
            <a:pPr algn="l">
              <a:lnSpc>
                <a:spcPts val="4199"/>
              </a:lnSpc>
            </a:pPr>
            <a:r>
              <a:rPr lang="en-US" sz="2799" b="true">
                <a:solidFill>
                  <a:srgbClr val="2B2C30"/>
                </a:solidFill>
                <a:latin typeface="Public Sans Bold"/>
                <a:ea typeface="Public Sans Bold"/>
                <a:cs typeface="Public Sans Bold"/>
                <a:sym typeface="Public Sans Bold"/>
              </a:rPr>
              <a:t>Objective</a:t>
            </a:r>
          </a:p>
          <a:p>
            <a:pPr algn="l">
              <a:lnSpc>
                <a:spcPts val="4199"/>
              </a:lnSpc>
            </a:pPr>
            <a:r>
              <a:rPr lang="en-US" sz="2799">
                <a:solidFill>
                  <a:srgbClr val="2B2C30"/>
                </a:solidFill>
                <a:latin typeface="Public Sans"/>
                <a:ea typeface="Public Sans"/>
                <a:cs typeface="Public Sans"/>
                <a:sym typeface="Public Sans"/>
              </a:rPr>
              <a:t>Complete the platform by implementing monitoring, analytics, reporting, and maintenance features before final deployment.</a:t>
            </a:r>
          </a:p>
          <a:p>
            <a:pPr algn="l">
              <a:lnSpc>
                <a:spcPts val="4199"/>
              </a:lnSpc>
            </a:pPr>
            <a:r>
              <a:rPr lang="en-US" sz="2799" b="true">
                <a:solidFill>
                  <a:srgbClr val="2B2C30"/>
                </a:solidFill>
                <a:latin typeface="Public Sans Bold"/>
                <a:ea typeface="Public Sans Bold"/>
                <a:cs typeface="Public Sans Bold"/>
                <a:sym typeface="Public Sans Bold"/>
              </a:rPr>
              <a:t>Modules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Real-Time Dashboard</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Performance Monitoring</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Reporting &amp; Analytics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Maintenance Module</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Final System Integration</a:t>
            </a:r>
          </a:p>
          <a:p>
            <a:pPr algn="l">
              <a:lnSpc>
                <a:spcPts val="4199"/>
              </a:lnSpc>
            </a:pPr>
            <a:r>
              <a:rPr lang="en-US" sz="2799" b="true">
                <a:solidFill>
                  <a:srgbClr val="2B2C30"/>
                </a:solidFill>
                <a:latin typeface="Public Sans Bold"/>
                <a:ea typeface="Public Sans Bold"/>
                <a:cs typeface="Public Sans Bold"/>
                <a:sym typeface="Public Sans Bold"/>
              </a:rPr>
              <a:t>Deliverables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Live project monitoring dashboard</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Performance and resource monitoring</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Project and productivity reports</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System maintenance and update support</a:t>
            </a:r>
          </a:p>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Final integration, User Acceptance Testing (UAT), and production deployment</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3648566" y="4334821"/>
            <a:ext cx="10990868" cy="2084083"/>
          </a:xfrm>
          <a:prstGeom prst="rect">
            <a:avLst/>
          </a:prstGeom>
        </p:spPr>
        <p:txBody>
          <a:bodyPr anchor="t" rtlCol="false" tIns="0" lIns="0" bIns="0" rIns="0">
            <a:spAutoFit/>
          </a:bodyPr>
          <a:lstStyle/>
          <a:p>
            <a:pPr algn="l">
              <a:lnSpc>
                <a:spcPts val="15250"/>
              </a:lnSpc>
            </a:pPr>
            <a:r>
              <a:rPr lang="en-US" sz="16758" spc="83">
                <a:solidFill>
                  <a:srgbClr val="2B2C30"/>
                </a:solidFill>
                <a:latin typeface="Playfair Display"/>
                <a:ea typeface="Playfair Display"/>
                <a:cs typeface="Playfair Display"/>
                <a:sym typeface="Playfair Displa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DAHQlFM1lfs</dc:identifier>
  <dcterms:modified xsi:type="dcterms:W3CDTF">2011-08-01T06:04:30Z</dcterms:modified>
  <cp:revision>1</cp:revision>
  <dc:title>Project Modules</dc:title>
</cp:coreProperties>
</file>