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charset="1" panose="00000500000000000000"/>
      <p:regular r:id="rId15"/>
    </p:embeddedFont>
    <p:embeddedFont>
      <p:font typeface="Open Sauce Semi-Bold" charset="1" panose="00000700000000000000"/>
      <p:regular r:id="rId16"/>
    </p:embeddedFont>
    <p:embeddedFont>
      <p:font typeface="Open Sauce Bold" charset="1" panose="00000800000000000000"/>
      <p:regular r:id="rId17"/>
    </p:embeddedFont>
    <p:embeddedFont>
      <p:font typeface="Canva Sans Bold" charset="1" panose="020B08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3165587"/>
            <a:ext cx="17195083" cy="2499360"/>
          </a:xfrm>
          <a:prstGeom prst="rect">
            <a:avLst/>
          </a:prstGeom>
        </p:spPr>
        <p:txBody>
          <a:bodyPr anchor="t" rtlCol="false" tIns="0" lIns="0" bIns="0" rIns="0">
            <a:spAutoFit/>
          </a:bodyPr>
          <a:lstStyle/>
          <a:p>
            <a:pPr algn="l">
              <a:lnSpc>
                <a:spcPts val="9720"/>
              </a:lnSpc>
            </a:pPr>
            <a:r>
              <a:rPr lang="en-US" sz="9000" spc="-531">
                <a:solidFill>
                  <a:srgbClr val="185079"/>
                </a:solidFill>
                <a:latin typeface="Open Sauce"/>
                <a:ea typeface="Open Sauce"/>
                <a:cs typeface="Open Sauce"/>
                <a:sym typeface="Open Sauce"/>
              </a:rPr>
              <a:t>NEUROFORGE ENTERPRISE </a:t>
            </a:r>
          </a:p>
          <a:p>
            <a:pPr algn="l">
              <a:lnSpc>
                <a:spcPts val="9720"/>
              </a:lnSpc>
            </a:pPr>
            <a:r>
              <a:rPr lang="en-US" sz="9000" spc="-531">
                <a:solidFill>
                  <a:srgbClr val="185079"/>
                </a:solidFill>
                <a:latin typeface="Open Sauce"/>
                <a:ea typeface="Open Sauce"/>
                <a:cs typeface="Open Sauce"/>
                <a:sym typeface="Open Sauce"/>
              </a:rPr>
              <a:t>SDLC </a:t>
            </a:r>
          </a:p>
        </p:txBody>
      </p:sp>
      <p:sp>
        <p:nvSpPr>
          <p:cNvPr name="Freeform 4" id="4"/>
          <p:cNvSpPr/>
          <p:nvPr/>
        </p:nvSpPr>
        <p:spPr>
          <a:xfrm flipH="false" flipV="false" rot="0">
            <a:off x="5608035" y="-4316939"/>
            <a:ext cx="22188662" cy="18920878"/>
          </a:xfrm>
          <a:custGeom>
            <a:avLst/>
            <a:gdLst/>
            <a:ahLst/>
            <a:cxnLst/>
            <a:rect r="r" b="b" t="t" l="l"/>
            <a:pathLst>
              <a:path h="18920878" w="22188662">
                <a:moveTo>
                  <a:pt x="0" y="0"/>
                </a:moveTo>
                <a:lnTo>
                  <a:pt x="22188662" y="0"/>
                </a:lnTo>
                <a:lnTo>
                  <a:pt x="22188662" y="18920878"/>
                </a:lnTo>
                <a:lnTo>
                  <a:pt x="0" y="18920878"/>
                </a:lnTo>
                <a:lnTo>
                  <a:pt x="0" y="0"/>
                </a:lnTo>
                <a:close/>
              </a:path>
            </a:pathLst>
          </a:custGeom>
          <a:blipFill>
            <a:blip r:embed="rId3"/>
            <a:stretch>
              <a:fillRect l="0" t="0" r="0" b="0"/>
            </a:stretch>
          </a:blipFill>
        </p:spPr>
      </p:sp>
      <p:sp>
        <p:nvSpPr>
          <p:cNvPr name="TextBox 5" id="5"/>
          <p:cNvSpPr txBox="true"/>
          <p:nvPr/>
        </p:nvSpPr>
        <p:spPr>
          <a:xfrm rot="0">
            <a:off x="4061493" y="4394312"/>
            <a:ext cx="7122258" cy="1270635"/>
          </a:xfrm>
          <a:prstGeom prst="rect">
            <a:avLst/>
          </a:prstGeom>
        </p:spPr>
        <p:txBody>
          <a:bodyPr anchor="t" rtlCol="false" tIns="0" lIns="0" bIns="0" rIns="0">
            <a:spAutoFit/>
          </a:bodyPr>
          <a:lstStyle/>
          <a:p>
            <a:pPr algn="l" marL="0" indent="0" lvl="0">
              <a:lnSpc>
                <a:spcPts val="9720"/>
              </a:lnSpc>
              <a:spcBef>
                <a:spcPct val="0"/>
              </a:spcBef>
            </a:pPr>
            <a:r>
              <a:rPr lang="en-US" b="true" sz="9000" spc="-531">
                <a:solidFill>
                  <a:srgbClr val="185079"/>
                </a:solidFill>
                <a:latin typeface="Open Sauce Semi-Bold"/>
                <a:ea typeface="Open Sauce Semi-Bold"/>
                <a:cs typeface="Open Sauce Semi-Bold"/>
                <a:sym typeface="Open Sauce Semi-Bold"/>
              </a:rPr>
              <a:t>PLATFORM</a:t>
            </a:r>
          </a:p>
        </p:txBody>
      </p:sp>
      <p:sp>
        <p:nvSpPr>
          <p:cNvPr name="TextBox 6" id="6"/>
          <p:cNvSpPr txBox="true"/>
          <p:nvPr/>
        </p:nvSpPr>
        <p:spPr>
          <a:xfrm rot="0">
            <a:off x="1028700" y="8788907"/>
            <a:ext cx="10155052" cy="917068"/>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PREPARED BY : </a:t>
            </a:r>
          </a:p>
          <a:p>
            <a:pPr algn="l">
              <a:lnSpc>
                <a:spcPts val="3564"/>
              </a:lnSpc>
            </a:pPr>
            <a:r>
              <a:rPr lang="en-US" sz="3300" spc="-118">
                <a:solidFill>
                  <a:srgbClr val="185079"/>
                </a:solidFill>
                <a:latin typeface="Open Sauce"/>
                <a:ea typeface="Open Sauce"/>
                <a:cs typeface="Open Sauce"/>
                <a:sym typeface="Open Sauce"/>
              </a:rPr>
              <a:t>PRAVEEN KUMAR RAMESH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Freeform 3" id="3"/>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4" id="4"/>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TextBox 5" id="5"/>
          <p:cNvSpPr txBox="true"/>
          <p:nvPr/>
        </p:nvSpPr>
        <p:spPr>
          <a:xfrm rot="0">
            <a:off x="1028700" y="1095375"/>
            <a:ext cx="16230600" cy="1663065"/>
          </a:xfrm>
          <a:prstGeom prst="rect">
            <a:avLst/>
          </a:prstGeom>
        </p:spPr>
        <p:txBody>
          <a:bodyPr anchor="t" rtlCol="false" tIns="0" lIns="0" bIns="0" rIns="0">
            <a:spAutoFit/>
          </a:bodyPr>
          <a:lstStyle/>
          <a:p>
            <a:pPr algn="l" marL="0" indent="0" lvl="0">
              <a:lnSpc>
                <a:spcPts val="6480"/>
              </a:lnSpc>
              <a:spcBef>
                <a:spcPct val="0"/>
              </a:spcBef>
            </a:pPr>
            <a:r>
              <a:rPr lang="en-US" b="true" sz="6000" spc="-354">
                <a:solidFill>
                  <a:srgbClr val="185079"/>
                </a:solidFill>
                <a:latin typeface="Open Sauce Semi-Bold"/>
                <a:ea typeface="Open Sauce Semi-Bold"/>
                <a:cs typeface="Open Sauce Semi-Bold"/>
                <a:sym typeface="Open Sauce Semi-Bold"/>
              </a:rPr>
              <a:t>WHAT IS NEUROFORGE ENTERPRISE SDLC PLATFORM?</a:t>
            </a:r>
          </a:p>
        </p:txBody>
      </p:sp>
      <p:sp>
        <p:nvSpPr>
          <p:cNvPr name="TextBox 6" id="6"/>
          <p:cNvSpPr txBox="true"/>
          <p:nvPr/>
        </p:nvSpPr>
        <p:spPr>
          <a:xfrm rot="0">
            <a:off x="1028700" y="2909517"/>
            <a:ext cx="16230600" cy="5802630"/>
          </a:xfrm>
          <a:prstGeom prst="rect">
            <a:avLst/>
          </a:prstGeom>
        </p:spPr>
        <p:txBody>
          <a:bodyPr anchor="t" rtlCol="false" tIns="0" lIns="0" bIns="0" rIns="0">
            <a:spAutoFit/>
          </a:bodyPr>
          <a:lstStyle/>
          <a:p>
            <a:pPr algn="just">
              <a:lnSpc>
                <a:spcPts val="4620"/>
              </a:lnSpc>
            </a:pPr>
            <a:r>
              <a:rPr lang="en-US" sz="3300">
                <a:solidFill>
                  <a:srgbClr val="185079"/>
                </a:solidFill>
                <a:latin typeface="Open Sauce"/>
                <a:ea typeface="Open Sauce"/>
                <a:cs typeface="Open Sauce"/>
                <a:sym typeface="Open Sauce"/>
              </a:rPr>
              <a:t>NeuroForge Enterprise SDLC Platform is an AI-powered Software Development Life Cycle (SDLC) platform that helps organizations manage the complete software development process in one integrated environment. It enables project managers, business analysts, developers, testers, DevOps engineers, and stakeholders to collaborate efficiently throughout the software lifecycle.</a:t>
            </a:r>
          </a:p>
          <a:p>
            <a:pPr algn="just">
              <a:lnSpc>
                <a:spcPts val="4620"/>
              </a:lnSpc>
            </a:pPr>
          </a:p>
          <a:p>
            <a:pPr algn="just" marL="0" indent="0" lvl="0">
              <a:lnSpc>
                <a:spcPts val="4620"/>
              </a:lnSpc>
            </a:pPr>
            <a:r>
              <a:rPr lang="en-US" sz="3300">
                <a:solidFill>
                  <a:srgbClr val="185079"/>
                </a:solidFill>
                <a:latin typeface="Open Sauce"/>
                <a:ea typeface="Open Sauce"/>
                <a:cs typeface="Open Sauce"/>
                <a:sym typeface="Open Sauce"/>
              </a:rPr>
              <a:t>Instead of using multiple disconnected tools for project management, coding, testing, deployment, and monitoring, NeuroForge provides a unified platform that integrates these activities while leveraging Artificial Intelligence to automate repetitive tasks and improve productivity.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Freeform 3" id="3"/>
          <p:cNvSpPr/>
          <p:nvPr/>
        </p:nvSpPr>
        <p:spPr>
          <a:xfrm flipH="false" flipV="false" rot="0">
            <a:off x="2601885" y="5706428"/>
            <a:ext cx="13084230" cy="4114800"/>
          </a:xfrm>
          <a:custGeom>
            <a:avLst/>
            <a:gdLst/>
            <a:ahLst/>
            <a:cxnLst/>
            <a:rect r="r" b="b" t="t" l="l"/>
            <a:pathLst>
              <a:path h="4114800" w="13084230">
                <a:moveTo>
                  <a:pt x="0" y="0"/>
                </a:moveTo>
                <a:lnTo>
                  <a:pt x="13084230" y="0"/>
                </a:lnTo>
                <a:lnTo>
                  <a:pt x="13084230" y="4114800"/>
                </a:lnTo>
                <a:lnTo>
                  <a:pt x="0" y="4114800"/>
                </a:lnTo>
                <a:lnTo>
                  <a:pt x="0" y="0"/>
                </a:lnTo>
                <a:close/>
              </a:path>
            </a:pathLst>
          </a:custGeom>
          <a:blipFill>
            <a:blip r:embed="rId3"/>
            <a:stretch>
              <a:fillRect l="0" t="-36772" r="0" b="-25000"/>
            </a:stretch>
          </a:blipFill>
        </p:spPr>
      </p:sp>
      <p:sp>
        <p:nvSpPr>
          <p:cNvPr name="TextBox 4" id="4"/>
          <p:cNvSpPr txBox="true"/>
          <p:nvPr/>
        </p:nvSpPr>
        <p:spPr>
          <a:xfrm rot="0">
            <a:off x="1028700" y="1095375"/>
            <a:ext cx="16878300" cy="843915"/>
          </a:xfrm>
          <a:prstGeom prst="rect">
            <a:avLst/>
          </a:prstGeom>
        </p:spPr>
        <p:txBody>
          <a:bodyPr anchor="t" rtlCol="false" tIns="0" lIns="0" bIns="0" rIns="0">
            <a:spAutoFit/>
          </a:bodyPr>
          <a:lstStyle/>
          <a:p>
            <a:pPr algn="l" marL="0" indent="0" lvl="0">
              <a:lnSpc>
                <a:spcPts val="6479"/>
              </a:lnSpc>
              <a:spcBef>
                <a:spcPct val="0"/>
              </a:spcBef>
            </a:pPr>
            <a:r>
              <a:rPr lang="en-US" b="true" sz="5999" spc="-353">
                <a:solidFill>
                  <a:srgbClr val="185079"/>
                </a:solidFill>
                <a:latin typeface="Open Sauce Bold"/>
                <a:ea typeface="Open Sauce Bold"/>
                <a:cs typeface="Open Sauce Bold"/>
                <a:sym typeface="Open Sauce Bold"/>
              </a:rPr>
              <a:t>SOFTWARE DEVELOPMENT LIFE CYCLE (SDLC)</a:t>
            </a:r>
          </a:p>
        </p:txBody>
      </p:sp>
      <p:sp>
        <p:nvSpPr>
          <p:cNvPr name="TextBox 5" id="5"/>
          <p:cNvSpPr txBox="true"/>
          <p:nvPr/>
        </p:nvSpPr>
        <p:spPr>
          <a:xfrm rot="0">
            <a:off x="1028700" y="2179653"/>
            <a:ext cx="16230600" cy="2316480"/>
          </a:xfrm>
          <a:prstGeom prst="rect">
            <a:avLst/>
          </a:prstGeom>
        </p:spPr>
        <p:txBody>
          <a:bodyPr anchor="t" rtlCol="false" tIns="0" lIns="0" bIns="0" rIns="0">
            <a:spAutoFit/>
          </a:bodyPr>
          <a:lstStyle/>
          <a:p>
            <a:pPr algn="just" marL="0" indent="0" lvl="0">
              <a:lnSpc>
                <a:spcPts val="4620"/>
              </a:lnSpc>
              <a:spcBef>
                <a:spcPct val="0"/>
              </a:spcBef>
            </a:pPr>
            <a:r>
              <a:rPr lang="en-US" sz="3300">
                <a:solidFill>
                  <a:srgbClr val="185079"/>
                </a:solidFill>
                <a:latin typeface="Open Sauce"/>
                <a:ea typeface="Open Sauce"/>
                <a:cs typeface="Open Sauce"/>
                <a:sym typeface="Open Sauce"/>
              </a:rPr>
              <a:t>The Software Development Life Cycle (SDLC) is a structured process used to design, develop, test, deploy, and maintain software efficiently. It provides a systematic approach that helps organizations deliver high-quality software on time, within budget, and with minimal risks.</a:t>
            </a:r>
          </a:p>
        </p:txBody>
      </p:sp>
      <p:sp>
        <p:nvSpPr>
          <p:cNvPr name="TextBox 6" id="6"/>
          <p:cNvSpPr txBox="true"/>
          <p:nvPr/>
        </p:nvSpPr>
        <p:spPr>
          <a:xfrm rot="0">
            <a:off x="1028700" y="4818697"/>
            <a:ext cx="3305916" cy="573405"/>
          </a:xfrm>
          <a:prstGeom prst="rect">
            <a:avLst/>
          </a:prstGeom>
        </p:spPr>
        <p:txBody>
          <a:bodyPr anchor="t" rtlCol="false" tIns="0" lIns="0" bIns="0" rIns="0">
            <a:spAutoFit/>
          </a:bodyPr>
          <a:lstStyle/>
          <a:p>
            <a:pPr algn="ctr">
              <a:lnSpc>
                <a:spcPts val="4620"/>
              </a:lnSpc>
            </a:pPr>
            <a:r>
              <a:rPr lang="en-US" sz="3300" b="true">
                <a:solidFill>
                  <a:srgbClr val="185079"/>
                </a:solidFill>
                <a:latin typeface="Open Sauce Bold"/>
                <a:ea typeface="Open Sauce Bold"/>
                <a:cs typeface="Open Sauce Bold"/>
                <a:sym typeface="Open Sauce Bold"/>
              </a:rPr>
              <a:t>SDLC PHASES : </a:t>
            </a:r>
          </a:p>
        </p:txBody>
      </p:sp>
      <p:sp>
        <p:nvSpPr>
          <p:cNvPr name="Freeform 7" id="7"/>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4"/>
            <a:stretch>
              <a:fillRect l="0" t="0" r="0" b="0"/>
            </a:stretch>
          </a:blipFill>
        </p:spPr>
      </p:sp>
      <p:sp>
        <p:nvSpPr>
          <p:cNvPr name="Freeform 8" id="8"/>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640080"/>
            <a:ext cx="12995528" cy="843915"/>
          </a:xfrm>
          <a:prstGeom prst="rect">
            <a:avLst/>
          </a:prstGeom>
        </p:spPr>
        <p:txBody>
          <a:bodyPr anchor="t" rtlCol="false" tIns="0" lIns="0" bIns="0" rIns="0">
            <a:spAutoFit/>
          </a:bodyPr>
          <a:lstStyle/>
          <a:p>
            <a:pPr algn="l" marL="0" indent="0" lvl="0">
              <a:lnSpc>
                <a:spcPts val="6479"/>
              </a:lnSpc>
              <a:spcBef>
                <a:spcPct val="0"/>
              </a:spcBef>
            </a:pPr>
            <a:r>
              <a:rPr lang="en-US" b="true" sz="5999" spc="-353">
                <a:solidFill>
                  <a:srgbClr val="185079"/>
                </a:solidFill>
                <a:latin typeface="Open Sauce Bold"/>
                <a:ea typeface="Open Sauce Bold"/>
                <a:cs typeface="Open Sauce Bold"/>
                <a:sym typeface="Open Sauce Bold"/>
              </a:rPr>
              <a:t>WHY DO WE NEED NEUROFORGE?</a:t>
            </a:r>
          </a:p>
        </p:txBody>
      </p:sp>
      <p:sp>
        <p:nvSpPr>
          <p:cNvPr name="TextBox 4" id="4"/>
          <p:cNvSpPr txBox="true"/>
          <p:nvPr/>
        </p:nvSpPr>
        <p:spPr>
          <a:xfrm rot="0">
            <a:off x="687021" y="1863090"/>
            <a:ext cx="16230600" cy="8126730"/>
          </a:xfrm>
          <a:prstGeom prst="rect">
            <a:avLst/>
          </a:prstGeom>
        </p:spPr>
        <p:txBody>
          <a:bodyPr anchor="t" rtlCol="false" tIns="0" lIns="0" bIns="0" rIns="0">
            <a:spAutoFit/>
          </a:bodyPr>
          <a:lstStyle/>
          <a:p>
            <a:pPr algn="just">
              <a:lnSpc>
                <a:spcPts val="4620"/>
              </a:lnSpc>
            </a:pP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Teams rely on multiple tools for project management, coding, testing, and documentation, leading to fragmented workflows and reduced collaboration.</a:t>
            </a: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Poor communication between business teams, developers, and testers often results in misunderstandings, delays, and frequent rework.</a:t>
            </a: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Documentation is created and updated manually, making it time-consuming and prone to becoming outdated.</a:t>
            </a: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Manual testing increases the time required to identify defects, slowing down software releases and delivery.</a:t>
            </a: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Without automated code reviews, coding errors and security vulnerabilities may remain undetected until later stages.</a:t>
            </a:r>
          </a:p>
          <a:p>
            <a:pPr algn="just" marL="712470" indent="-356235" lvl="1">
              <a:lnSpc>
                <a:spcPts val="4620"/>
              </a:lnSpc>
              <a:buFont typeface="Arial"/>
              <a:buChar char="•"/>
            </a:pPr>
            <a:r>
              <a:rPr lang="en-US" sz="3300" strike="noStrike" u="none">
                <a:solidFill>
                  <a:srgbClr val="185079"/>
                </a:solidFill>
                <a:latin typeface="Open Sauce"/>
                <a:ea typeface="Open Sauce"/>
                <a:cs typeface="Open Sauce"/>
                <a:sym typeface="Open Sauce"/>
              </a:rPr>
              <a:t>Managers often lack real-time visibility into project progress, resource allocation, and overall team productivity.</a:t>
            </a:r>
          </a:p>
        </p:txBody>
      </p:sp>
      <p:sp>
        <p:nvSpPr>
          <p:cNvPr name="Freeform 5" id="5"/>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TextBox 7" id="7"/>
          <p:cNvSpPr txBox="true"/>
          <p:nvPr/>
        </p:nvSpPr>
        <p:spPr>
          <a:xfrm rot="0">
            <a:off x="1028700" y="1624012"/>
            <a:ext cx="12519854" cy="563880"/>
          </a:xfrm>
          <a:prstGeom prst="rect">
            <a:avLst/>
          </a:prstGeom>
        </p:spPr>
        <p:txBody>
          <a:bodyPr anchor="t" rtlCol="false" tIns="0" lIns="0" bIns="0" rIns="0">
            <a:spAutoFit/>
          </a:bodyPr>
          <a:lstStyle/>
          <a:p>
            <a:pPr algn="ctr">
              <a:lnSpc>
                <a:spcPts val="4620"/>
              </a:lnSpc>
            </a:pPr>
            <a:r>
              <a:rPr lang="en-US" sz="3300" b="true">
                <a:solidFill>
                  <a:srgbClr val="185079"/>
                </a:solidFill>
                <a:latin typeface="Canva Sans Bold"/>
                <a:ea typeface="Canva Sans Bold"/>
                <a:cs typeface="Canva Sans Bold"/>
                <a:sym typeface="Canva Sans Bold"/>
              </a:rPr>
              <a:t>PROBLEMS WITH  TRADITIONAL SOFTWARE DEVELOPMENT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640080"/>
            <a:ext cx="12995528" cy="843915"/>
          </a:xfrm>
          <a:prstGeom prst="rect">
            <a:avLst/>
          </a:prstGeom>
        </p:spPr>
        <p:txBody>
          <a:bodyPr anchor="t" rtlCol="false" tIns="0" lIns="0" bIns="0" rIns="0">
            <a:spAutoFit/>
          </a:bodyPr>
          <a:lstStyle/>
          <a:p>
            <a:pPr algn="l" marL="0" indent="0" lvl="0">
              <a:lnSpc>
                <a:spcPts val="6479"/>
              </a:lnSpc>
              <a:spcBef>
                <a:spcPct val="0"/>
              </a:spcBef>
            </a:pPr>
            <a:r>
              <a:rPr lang="en-US" b="true" sz="5999" spc="-353">
                <a:solidFill>
                  <a:srgbClr val="185079"/>
                </a:solidFill>
                <a:latin typeface="Open Sauce Bold"/>
                <a:ea typeface="Open Sauce Bold"/>
                <a:cs typeface="Open Sauce Bold"/>
                <a:sym typeface="Open Sauce Bold"/>
              </a:rPr>
              <a:t>WHY DO WE NEED NEUROFORGE?</a:t>
            </a:r>
          </a:p>
        </p:txBody>
      </p:sp>
      <p:sp>
        <p:nvSpPr>
          <p:cNvPr name="TextBox 4" id="4"/>
          <p:cNvSpPr txBox="true"/>
          <p:nvPr/>
        </p:nvSpPr>
        <p:spPr>
          <a:xfrm rot="0">
            <a:off x="1028700" y="2477576"/>
            <a:ext cx="16230600" cy="7545705"/>
          </a:xfrm>
          <a:prstGeom prst="rect">
            <a:avLst/>
          </a:prstGeom>
        </p:spPr>
        <p:txBody>
          <a:bodyPr anchor="t" rtlCol="false" tIns="0" lIns="0" bIns="0" rIns="0">
            <a:spAutoFit/>
          </a:bodyPr>
          <a:lstStyle/>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Enables seamless communication and coordination between developers, testers, project managers, and stakeholders on a unified platform.</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Uses AI and automation to perform coding, testing, documentation, and deployment tasks, saving time and reducing manual effort.</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Improves code quality through automated testing, code reviews, and early detection of bugs and security vulnerabilities.</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Streamlines workflows and minimizes rework, enabling faster project completion while lowering overall development costs.</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Provides live insights into project progress, team performance, bug tracking, and development status for better decision-making.</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Integrates AI with CI/CD pipelines and DevOps tools to automate development and deliver software faster and more efficiently.</a:t>
            </a:r>
          </a:p>
          <a:p>
            <a:pPr algn="just">
              <a:lnSpc>
                <a:spcPts val="4620"/>
              </a:lnSpc>
            </a:pPr>
          </a:p>
        </p:txBody>
      </p:sp>
      <p:sp>
        <p:nvSpPr>
          <p:cNvPr name="Freeform 5" id="5"/>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TextBox 7" id="7"/>
          <p:cNvSpPr txBox="true"/>
          <p:nvPr/>
        </p:nvSpPr>
        <p:spPr>
          <a:xfrm rot="0">
            <a:off x="1235046" y="1704146"/>
            <a:ext cx="6291418" cy="563880"/>
          </a:xfrm>
          <a:prstGeom prst="rect">
            <a:avLst/>
          </a:prstGeom>
        </p:spPr>
        <p:txBody>
          <a:bodyPr anchor="t" rtlCol="false" tIns="0" lIns="0" bIns="0" rIns="0">
            <a:spAutoFit/>
          </a:bodyPr>
          <a:lstStyle/>
          <a:p>
            <a:pPr algn="ctr">
              <a:lnSpc>
                <a:spcPts val="4620"/>
              </a:lnSpc>
            </a:pPr>
            <a:r>
              <a:rPr lang="en-US" sz="3300" b="true">
                <a:solidFill>
                  <a:srgbClr val="185079"/>
                </a:solidFill>
                <a:latin typeface="Canva Sans Bold"/>
                <a:ea typeface="Canva Sans Bold"/>
                <a:cs typeface="Canva Sans Bold"/>
                <a:sym typeface="Canva Sans Bold"/>
              </a:rPr>
              <a:t>OBJECTIVES OF NEUROFORGE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2130255"/>
            <a:ext cx="9785084" cy="7545705"/>
          </a:xfrm>
          <a:prstGeom prst="rect">
            <a:avLst/>
          </a:prstGeom>
        </p:spPr>
        <p:txBody>
          <a:bodyPr anchor="t" rtlCol="false" tIns="0" lIns="0" bIns="0" rIns="0">
            <a:spAutoFit/>
          </a:bodyPr>
          <a:lstStyle/>
          <a:p>
            <a:pPr algn="l">
              <a:lnSpc>
                <a:spcPts val="4620"/>
              </a:lnSpc>
            </a:pPr>
            <a:r>
              <a:rPr lang="en-US" sz="3300" b="true">
                <a:solidFill>
                  <a:srgbClr val="185079"/>
                </a:solidFill>
                <a:latin typeface="Open Sauce Bold"/>
                <a:ea typeface="Open Sauce Bold"/>
                <a:cs typeface="Open Sauce Bold"/>
                <a:sym typeface="Open Sauce Bold"/>
              </a:rPr>
              <a:t>Requirement Project Management</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Requirement collection and tracking</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User stories and sprint planning</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Agile, Scrum, Kanban, and Waterfall support</a:t>
            </a:r>
          </a:p>
          <a:p>
            <a:pPr algn="l">
              <a:lnSpc>
                <a:spcPts val="4620"/>
              </a:lnSpc>
            </a:pPr>
            <a:r>
              <a:rPr lang="en-US" b="true" sz="3300">
                <a:solidFill>
                  <a:srgbClr val="185079"/>
                </a:solidFill>
                <a:latin typeface="Open Sauce Bold"/>
                <a:ea typeface="Open Sauce Bold"/>
                <a:cs typeface="Open Sauce Bold"/>
                <a:sym typeface="Open Sauce Bold"/>
              </a:rPr>
              <a:t>AI-Powered Development</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AI-assisted requirement analysis</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AI code generation</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Automatic documentation</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Intelligent code suggestions</a:t>
            </a:r>
          </a:p>
          <a:p>
            <a:pPr algn="l">
              <a:lnSpc>
                <a:spcPts val="4620"/>
              </a:lnSpc>
            </a:pPr>
            <a:r>
              <a:rPr lang="en-US" b="true" sz="3300">
                <a:solidFill>
                  <a:srgbClr val="185079"/>
                </a:solidFill>
                <a:latin typeface="Open Sauce Bold"/>
                <a:ea typeface="Open Sauce Bold"/>
                <a:cs typeface="Open Sauce Bold"/>
                <a:sym typeface="Open Sauce Bold"/>
              </a:rPr>
              <a:t>Source Code Management</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Git integration</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Branch and version control</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Pull requests and code reviews</a:t>
            </a:r>
          </a:p>
        </p:txBody>
      </p:sp>
      <p:sp>
        <p:nvSpPr>
          <p:cNvPr name="TextBox 4" id="4"/>
          <p:cNvSpPr txBox="true"/>
          <p:nvPr/>
        </p:nvSpPr>
        <p:spPr>
          <a:xfrm rot="0">
            <a:off x="1028700" y="184785"/>
            <a:ext cx="16167550" cy="843915"/>
          </a:xfrm>
          <a:prstGeom prst="rect">
            <a:avLst/>
          </a:prstGeom>
        </p:spPr>
        <p:txBody>
          <a:bodyPr anchor="t" rtlCol="false" tIns="0" lIns="0" bIns="0" rIns="0">
            <a:spAutoFit/>
          </a:bodyPr>
          <a:lstStyle/>
          <a:p>
            <a:pPr algn="l" marL="0" indent="0" lvl="0">
              <a:lnSpc>
                <a:spcPts val="6479"/>
              </a:lnSpc>
              <a:spcBef>
                <a:spcPct val="0"/>
              </a:spcBef>
            </a:pPr>
            <a:r>
              <a:rPr lang="en-US" b="true" sz="5999" spc="-353">
                <a:solidFill>
                  <a:srgbClr val="185079"/>
                </a:solidFill>
                <a:latin typeface="Open Sauce Semi-Bold"/>
                <a:ea typeface="Open Sauce Semi-Bold"/>
                <a:cs typeface="Open Sauce Semi-Bold"/>
                <a:sym typeface="Open Sauce Semi-Bold"/>
              </a:rPr>
              <a:t>CORE FEATURES AND FUNCTIONAL MODULES</a:t>
            </a:r>
          </a:p>
        </p:txBody>
      </p:sp>
      <p:sp>
        <p:nvSpPr>
          <p:cNvPr name="TextBox 5" id="5"/>
          <p:cNvSpPr txBox="true"/>
          <p:nvPr/>
        </p:nvSpPr>
        <p:spPr>
          <a:xfrm rot="0">
            <a:off x="10813784" y="2130255"/>
            <a:ext cx="7175896" cy="7545705"/>
          </a:xfrm>
          <a:prstGeom prst="rect">
            <a:avLst/>
          </a:prstGeom>
        </p:spPr>
        <p:txBody>
          <a:bodyPr anchor="t" rtlCol="false" tIns="0" lIns="0" bIns="0" rIns="0">
            <a:spAutoFit/>
          </a:bodyPr>
          <a:lstStyle/>
          <a:p>
            <a:pPr algn="l">
              <a:lnSpc>
                <a:spcPts val="4620"/>
              </a:lnSpc>
            </a:pPr>
            <a:r>
              <a:rPr lang="en-US" b="true" sz="3300">
                <a:solidFill>
                  <a:srgbClr val="185079"/>
                </a:solidFill>
                <a:latin typeface="Open Sauce Bold"/>
                <a:ea typeface="Open Sauce Bold"/>
                <a:cs typeface="Open Sauce Bold"/>
                <a:sym typeface="Open Sauce Bold"/>
              </a:rPr>
              <a:t>Testing &amp; Quality Assurance</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Unit, Integration, System, and </a:t>
            </a:r>
          </a:p>
          <a:p>
            <a:pPr algn="l">
              <a:lnSpc>
                <a:spcPts val="4620"/>
              </a:lnSpc>
            </a:pPr>
            <a:r>
              <a:rPr lang="en-US" sz="3300">
                <a:solidFill>
                  <a:srgbClr val="185079"/>
                </a:solidFill>
                <a:latin typeface="Open Sauce"/>
                <a:ea typeface="Open Sauce"/>
                <a:cs typeface="Open Sauce"/>
                <a:sym typeface="Open Sauce"/>
              </a:rPr>
              <a:t>      </a:t>
            </a:r>
            <a:r>
              <a:rPr lang="en-US" sz="3300">
                <a:solidFill>
                  <a:srgbClr val="185079"/>
                </a:solidFill>
                <a:latin typeface="Open Sauce"/>
                <a:ea typeface="Open Sauce"/>
                <a:cs typeface="Open Sauce"/>
                <a:sym typeface="Open Sauce"/>
              </a:rPr>
              <a:t>Regression Testing</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AI-generated test cases</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Automated bug detection</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Code quality analysis</a:t>
            </a:r>
          </a:p>
          <a:p>
            <a:pPr algn="l">
              <a:lnSpc>
                <a:spcPts val="4620"/>
              </a:lnSpc>
            </a:pPr>
            <a:r>
              <a:rPr lang="en-US" b="true" sz="3300">
                <a:solidFill>
                  <a:srgbClr val="185079"/>
                </a:solidFill>
                <a:latin typeface="Open Sauce Bold"/>
                <a:ea typeface="Open Sauce Bold"/>
                <a:cs typeface="Open Sauce Bold"/>
                <a:sym typeface="Open Sauce Bold"/>
              </a:rPr>
              <a:t>Deployment &amp; Monitoring</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CI/CD automation</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Cloud deployment</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Real-time monitoring</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Performance analytics</a:t>
            </a:r>
          </a:p>
          <a:p>
            <a:pPr algn="l" marL="712470" indent="-356235" lvl="1">
              <a:lnSpc>
                <a:spcPts val="4620"/>
              </a:lnSpc>
              <a:buFont typeface="Arial"/>
              <a:buChar char="•"/>
            </a:pPr>
            <a:r>
              <a:rPr lang="en-US" sz="3300">
                <a:solidFill>
                  <a:srgbClr val="185079"/>
                </a:solidFill>
                <a:latin typeface="Open Sauce"/>
                <a:ea typeface="Open Sauce"/>
                <a:cs typeface="Open Sauce"/>
                <a:sym typeface="Open Sauce"/>
              </a:rPr>
              <a:t>Log management</a:t>
            </a:r>
          </a:p>
          <a:p>
            <a:pPr algn="l">
              <a:lnSpc>
                <a:spcPts val="4620"/>
              </a:lnSpc>
            </a:pPr>
          </a:p>
        </p:txBody>
      </p:sp>
      <p:sp>
        <p:nvSpPr>
          <p:cNvPr name="TextBox 6" id="6"/>
          <p:cNvSpPr txBox="true"/>
          <p:nvPr/>
        </p:nvSpPr>
        <p:spPr>
          <a:xfrm rot="0">
            <a:off x="6649138" y="1302300"/>
            <a:ext cx="5424589" cy="563880"/>
          </a:xfrm>
          <a:prstGeom prst="rect">
            <a:avLst/>
          </a:prstGeom>
        </p:spPr>
        <p:txBody>
          <a:bodyPr anchor="t" rtlCol="false" tIns="0" lIns="0" bIns="0" rIns="0">
            <a:spAutoFit/>
          </a:bodyPr>
          <a:lstStyle/>
          <a:p>
            <a:pPr algn="ctr">
              <a:lnSpc>
                <a:spcPts val="4620"/>
              </a:lnSpc>
            </a:pPr>
            <a:r>
              <a:rPr lang="en-US" sz="3300" b="true">
                <a:solidFill>
                  <a:srgbClr val="185079"/>
                </a:solidFill>
                <a:latin typeface="Canva Sans Bold"/>
                <a:ea typeface="Canva Sans Bold"/>
                <a:cs typeface="Canva Sans Bold"/>
                <a:sym typeface="Canva Sans Bold"/>
              </a:rPr>
              <a:t>MAJOR FEATURES</a:t>
            </a:r>
          </a:p>
        </p:txBody>
      </p:sp>
      <p:sp>
        <p:nvSpPr>
          <p:cNvPr name="Freeform 7" id="7"/>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8" id="8"/>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477454" y="184785"/>
            <a:ext cx="9747431" cy="843915"/>
          </a:xfrm>
          <a:prstGeom prst="rect">
            <a:avLst/>
          </a:prstGeom>
        </p:spPr>
        <p:txBody>
          <a:bodyPr anchor="t" rtlCol="false" tIns="0" lIns="0" bIns="0" rIns="0">
            <a:spAutoFit/>
          </a:bodyPr>
          <a:lstStyle/>
          <a:p>
            <a:pPr algn="l" marL="0" indent="0" lvl="0">
              <a:lnSpc>
                <a:spcPts val="6479"/>
              </a:lnSpc>
              <a:spcBef>
                <a:spcPct val="0"/>
              </a:spcBef>
            </a:pPr>
            <a:r>
              <a:rPr lang="en-US" b="true" sz="5999" spc="-353">
                <a:solidFill>
                  <a:srgbClr val="185079"/>
                </a:solidFill>
                <a:latin typeface="Open Sauce Semi-Bold"/>
                <a:ea typeface="Open Sauce Semi-Bold"/>
                <a:cs typeface="Open Sauce Semi-Bold"/>
                <a:sym typeface="Open Sauce Semi-Bold"/>
              </a:rPr>
              <a:t>BENEFITS OF NEUROFORGE </a:t>
            </a:r>
          </a:p>
        </p:txBody>
      </p:sp>
      <p:sp>
        <p:nvSpPr>
          <p:cNvPr name="Freeform 4" id="4"/>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TextBox 6" id="6"/>
          <p:cNvSpPr txBox="true"/>
          <p:nvPr/>
        </p:nvSpPr>
        <p:spPr>
          <a:xfrm rot="0">
            <a:off x="477454" y="1167341"/>
            <a:ext cx="17115659" cy="8707755"/>
          </a:xfrm>
          <a:prstGeom prst="rect">
            <a:avLst/>
          </a:prstGeom>
        </p:spPr>
        <p:txBody>
          <a:bodyPr anchor="t" rtlCol="false" tIns="0" lIns="0" bIns="0" rIns="0">
            <a:spAutoFit/>
          </a:bodyPr>
          <a:lstStyle/>
          <a:p>
            <a:pPr algn="just">
              <a:lnSpc>
                <a:spcPts val="4620"/>
              </a:lnSpc>
            </a:pPr>
            <a:r>
              <a:rPr lang="en-US" sz="3300" b="true">
                <a:solidFill>
                  <a:srgbClr val="185079"/>
                </a:solidFill>
                <a:latin typeface="Open Sauce Bold"/>
                <a:ea typeface="Open Sauce Bold"/>
                <a:cs typeface="Open Sauce Bold"/>
                <a:sym typeface="Open Sauce Bold"/>
              </a:rPr>
              <a:t>Increased Productivity</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Automates coding, testing, documentation, and deployment.</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Allows developers to focus on innovation instead of repetitive tasks.</a:t>
            </a:r>
          </a:p>
          <a:p>
            <a:pPr algn="just">
              <a:lnSpc>
                <a:spcPts val="4620"/>
              </a:lnSpc>
            </a:pPr>
            <a:r>
              <a:rPr lang="en-US" sz="3300" b="true">
                <a:solidFill>
                  <a:srgbClr val="185079"/>
                </a:solidFill>
                <a:latin typeface="Open Sauce Bold"/>
                <a:ea typeface="Open Sauce Bold"/>
                <a:cs typeface="Open Sauce Bold"/>
                <a:sym typeface="Open Sauce Bold"/>
              </a:rPr>
              <a:t>Improved Collaboration</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Provides a centralized platform where all teams work together.</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Improves communication and requirement traceability.</a:t>
            </a:r>
          </a:p>
          <a:p>
            <a:pPr algn="just">
              <a:lnSpc>
                <a:spcPts val="4620"/>
              </a:lnSpc>
            </a:pPr>
            <a:r>
              <a:rPr lang="en-US" sz="3300" b="true">
                <a:solidFill>
                  <a:srgbClr val="185079"/>
                </a:solidFill>
                <a:latin typeface="Open Sauce Bold"/>
                <a:ea typeface="Open Sauce Bold"/>
                <a:cs typeface="Open Sauce Bold"/>
                <a:sym typeface="Open Sauce Bold"/>
              </a:rPr>
              <a:t>Faster Software Delivery</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Continuous Integration and Continuous Deployment (CI/CD) reduce release time.</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Automated workflows eliminate manual delays.</a:t>
            </a:r>
          </a:p>
          <a:p>
            <a:pPr algn="just">
              <a:lnSpc>
                <a:spcPts val="4620"/>
              </a:lnSpc>
            </a:pPr>
            <a:r>
              <a:rPr lang="en-US" sz="3300" b="true">
                <a:solidFill>
                  <a:srgbClr val="185079"/>
                </a:solidFill>
                <a:latin typeface="Open Sauce Bold"/>
                <a:ea typeface="Open Sauce Bold"/>
                <a:cs typeface="Open Sauce Bold"/>
                <a:sym typeface="Open Sauce Bold"/>
              </a:rPr>
              <a:t>Better Software Quality</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Automated testing and AI-based code reviews reduce bugs.</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Security vulnerabilities are detected early.</a:t>
            </a:r>
          </a:p>
          <a:p>
            <a:pPr algn="just">
              <a:lnSpc>
                <a:spcPts val="4620"/>
              </a:lnSpc>
            </a:pPr>
            <a:r>
              <a:rPr lang="en-US" sz="3300" b="true">
                <a:solidFill>
                  <a:srgbClr val="185079"/>
                </a:solidFill>
                <a:latin typeface="Open Sauce Bold"/>
                <a:ea typeface="Open Sauce Bold"/>
                <a:cs typeface="Open Sauce Bold"/>
                <a:sym typeface="Open Sauce Bold"/>
              </a:rPr>
              <a:t>Cost Reduction</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Reduces rework and manual effort.</a:t>
            </a:r>
          </a:p>
          <a:p>
            <a:pPr algn="just" marL="712470" indent="-356235" lvl="1">
              <a:lnSpc>
                <a:spcPts val="4620"/>
              </a:lnSpc>
              <a:buFont typeface="Arial"/>
              <a:buChar char="•"/>
            </a:pPr>
            <a:r>
              <a:rPr lang="en-US" sz="3300">
                <a:solidFill>
                  <a:srgbClr val="185079"/>
                </a:solidFill>
                <a:latin typeface="Open Sauce"/>
                <a:ea typeface="Open Sauce"/>
                <a:cs typeface="Open Sauce"/>
                <a:sym typeface="Open Sauce"/>
              </a:rPr>
              <a:t>Minimizes tool licensing costs by integrating multiple services into one platform.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AutoShape 3" id="3"/>
          <p:cNvSpPr/>
          <p:nvPr/>
        </p:nvSpPr>
        <p:spPr>
          <a:xfrm>
            <a:off x="-826418" y="2713646"/>
            <a:ext cx="20061513" cy="0"/>
          </a:xfrm>
          <a:prstGeom prst="line">
            <a:avLst/>
          </a:prstGeom>
          <a:ln cap="flat" w="28575">
            <a:solidFill>
              <a:srgbClr val="185079"/>
            </a:solidFill>
            <a:prstDash val="solid"/>
            <a:headEnd type="none" len="sm" w="sm"/>
            <a:tailEnd type="none" len="sm" w="sm"/>
          </a:ln>
        </p:spPr>
      </p:sp>
      <p:grpSp>
        <p:nvGrpSpPr>
          <p:cNvPr name="Group 4" id="4"/>
          <p:cNvGrpSpPr/>
          <p:nvPr/>
        </p:nvGrpSpPr>
        <p:grpSpPr>
          <a:xfrm rot="0">
            <a:off x="2001429" y="2533870"/>
            <a:ext cx="359553" cy="3595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6" id="6"/>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7" id="7"/>
          <p:cNvSpPr txBox="true"/>
          <p:nvPr/>
        </p:nvSpPr>
        <p:spPr>
          <a:xfrm rot="0">
            <a:off x="4961578" y="3255373"/>
            <a:ext cx="3051098" cy="4317111"/>
          </a:xfrm>
          <a:prstGeom prst="rect">
            <a:avLst/>
          </a:prstGeom>
        </p:spPr>
        <p:txBody>
          <a:bodyPr anchor="t" rtlCol="false" tIns="0" lIns="0" bIns="0" rIns="0">
            <a:spAutoFit/>
          </a:bodyPr>
          <a:lstStyle/>
          <a:p>
            <a:pPr algn="just">
              <a:lnSpc>
                <a:spcPts val="4917"/>
              </a:lnSpc>
            </a:pPr>
            <a:r>
              <a:rPr lang="en-US" b="true" sz="3300">
                <a:solidFill>
                  <a:srgbClr val="185079"/>
                </a:solidFill>
                <a:latin typeface="Open Sauce Bold"/>
                <a:ea typeface="Open Sauce Bold"/>
                <a:cs typeface="Open Sauce Bold"/>
                <a:sym typeface="Open Sauce Bold"/>
              </a:rPr>
              <a:t>B</a:t>
            </a:r>
            <a:r>
              <a:rPr lang="en-US" b="true" sz="3300">
                <a:solidFill>
                  <a:srgbClr val="185079"/>
                </a:solidFill>
                <a:latin typeface="Open Sauce Bold"/>
                <a:ea typeface="Open Sauce Bold"/>
                <a:cs typeface="Open Sauce Bold"/>
                <a:sym typeface="Open Sauce Bold"/>
              </a:rPr>
              <a:t>ackend</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Java Spring Boot</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Node.js</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Python (FastAPI)</a:t>
            </a:r>
          </a:p>
          <a:p>
            <a:pPr algn="just">
              <a:lnSpc>
                <a:spcPts val="4917"/>
              </a:lnSpc>
            </a:pPr>
          </a:p>
        </p:txBody>
      </p:sp>
      <p:sp>
        <p:nvSpPr>
          <p:cNvPr name="TextBox 8" id="8"/>
          <p:cNvSpPr txBox="true"/>
          <p:nvPr/>
        </p:nvSpPr>
        <p:spPr>
          <a:xfrm rot="0">
            <a:off x="9095528" y="3255373"/>
            <a:ext cx="3231043" cy="3697986"/>
          </a:xfrm>
          <a:prstGeom prst="rect">
            <a:avLst/>
          </a:prstGeom>
        </p:spPr>
        <p:txBody>
          <a:bodyPr anchor="t" rtlCol="false" tIns="0" lIns="0" bIns="0" rIns="0">
            <a:spAutoFit/>
          </a:bodyPr>
          <a:lstStyle/>
          <a:p>
            <a:pPr algn="just">
              <a:lnSpc>
                <a:spcPts val="4917"/>
              </a:lnSpc>
            </a:pPr>
            <a:r>
              <a:rPr lang="en-US" b="true" sz="3300">
                <a:solidFill>
                  <a:srgbClr val="185079"/>
                </a:solidFill>
                <a:latin typeface="Open Sauce Bold"/>
                <a:ea typeface="Open Sauce Bold"/>
                <a:cs typeface="Open Sauce Bold"/>
                <a:sym typeface="Open Sauce Bold"/>
              </a:rPr>
              <a:t>D</a:t>
            </a:r>
            <a:r>
              <a:rPr lang="en-US" b="true" sz="3300">
                <a:solidFill>
                  <a:srgbClr val="185079"/>
                </a:solidFill>
                <a:latin typeface="Open Sauce Bold"/>
                <a:ea typeface="Open Sauce Bold"/>
                <a:cs typeface="Open Sauce Bold"/>
                <a:sym typeface="Open Sauce Bold"/>
              </a:rPr>
              <a:t>atabase</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PostgreSQL</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MySQL</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MongoDB</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Redis</a:t>
            </a:r>
          </a:p>
          <a:p>
            <a:pPr algn="just">
              <a:lnSpc>
                <a:spcPts val="4917"/>
              </a:lnSpc>
            </a:pPr>
          </a:p>
        </p:txBody>
      </p:sp>
      <p:sp>
        <p:nvSpPr>
          <p:cNvPr name="TextBox 9" id="9"/>
          <p:cNvSpPr txBox="true"/>
          <p:nvPr/>
        </p:nvSpPr>
        <p:spPr>
          <a:xfrm rot="0">
            <a:off x="13412420" y="3255373"/>
            <a:ext cx="3572722" cy="3078861"/>
          </a:xfrm>
          <a:prstGeom prst="rect">
            <a:avLst/>
          </a:prstGeom>
        </p:spPr>
        <p:txBody>
          <a:bodyPr anchor="t" rtlCol="false" tIns="0" lIns="0" bIns="0" rIns="0">
            <a:spAutoFit/>
          </a:bodyPr>
          <a:lstStyle/>
          <a:p>
            <a:pPr algn="l">
              <a:lnSpc>
                <a:spcPts val="4917"/>
              </a:lnSpc>
            </a:pPr>
            <a:r>
              <a:rPr lang="en-US" sz="3300" b="true">
                <a:solidFill>
                  <a:srgbClr val="185079"/>
                </a:solidFill>
                <a:latin typeface="Open Sauce Bold"/>
                <a:ea typeface="Open Sauce Bold"/>
                <a:cs typeface="Open Sauce Bold"/>
                <a:sym typeface="Open Sauce Bold"/>
              </a:rPr>
              <a:t>D</a:t>
            </a:r>
            <a:r>
              <a:rPr lang="en-US" b="true" sz="3300">
                <a:solidFill>
                  <a:srgbClr val="185079"/>
                </a:solidFill>
                <a:latin typeface="Open Sauce Bold"/>
                <a:ea typeface="Open Sauce Bold"/>
                <a:cs typeface="Open Sauce Bold"/>
                <a:sym typeface="Open Sauce Bold"/>
              </a:rPr>
              <a:t>evOps &amp; Cloud</a:t>
            </a:r>
          </a:p>
          <a:p>
            <a:pPr algn="l" marL="712470" indent="-356235" lvl="1">
              <a:lnSpc>
                <a:spcPts val="4917"/>
              </a:lnSpc>
              <a:buFont typeface="Arial"/>
              <a:buChar char="•"/>
            </a:pPr>
            <a:r>
              <a:rPr lang="en-US" sz="3300">
                <a:solidFill>
                  <a:srgbClr val="185079"/>
                </a:solidFill>
                <a:latin typeface="Open Sauce"/>
                <a:ea typeface="Open Sauce"/>
                <a:cs typeface="Open Sauce"/>
                <a:sym typeface="Open Sauce"/>
              </a:rPr>
              <a:t>Git, GitHub, GitLab</a:t>
            </a:r>
          </a:p>
          <a:p>
            <a:pPr algn="l" marL="712470" indent="-356235" lvl="1">
              <a:lnSpc>
                <a:spcPts val="4917"/>
              </a:lnSpc>
              <a:buFont typeface="Arial"/>
              <a:buChar char="•"/>
            </a:pPr>
            <a:r>
              <a:rPr lang="en-US" sz="3300">
                <a:solidFill>
                  <a:srgbClr val="185079"/>
                </a:solidFill>
                <a:latin typeface="Open Sauce"/>
                <a:ea typeface="Open Sauce"/>
                <a:cs typeface="Open Sauce"/>
                <a:sym typeface="Open Sauce"/>
              </a:rPr>
              <a:t>Docker</a:t>
            </a:r>
          </a:p>
          <a:p>
            <a:pPr algn="l" marL="712470" indent="-356235" lvl="1">
              <a:lnSpc>
                <a:spcPts val="4917"/>
              </a:lnSpc>
              <a:buFont typeface="Arial"/>
              <a:buChar char="•"/>
            </a:pPr>
            <a:r>
              <a:rPr lang="en-US" sz="3300">
                <a:solidFill>
                  <a:srgbClr val="185079"/>
                </a:solidFill>
                <a:latin typeface="Open Sauce"/>
                <a:ea typeface="Open Sauce"/>
                <a:cs typeface="Open Sauce"/>
                <a:sym typeface="Open Sauce"/>
              </a:rPr>
              <a:t>AWS</a:t>
            </a:r>
          </a:p>
        </p:txBody>
      </p:sp>
      <p:sp>
        <p:nvSpPr>
          <p:cNvPr name="TextBox 10" id="10"/>
          <p:cNvSpPr txBox="true"/>
          <p:nvPr/>
        </p:nvSpPr>
        <p:spPr>
          <a:xfrm rot="0">
            <a:off x="1142894" y="3255373"/>
            <a:ext cx="3075734" cy="4936236"/>
          </a:xfrm>
          <a:prstGeom prst="rect">
            <a:avLst/>
          </a:prstGeom>
        </p:spPr>
        <p:txBody>
          <a:bodyPr anchor="t" rtlCol="false" tIns="0" lIns="0" bIns="0" rIns="0">
            <a:spAutoFit/>
          </a:bodyPr>
          <a:lstStyle/>
          <a:p>
            <a:pPr algn="just">
              <a:lnSpc>
                <a:spcPts val="4917"/>
              </a:lnSpc>
            </a:pPr>
            <a:r>
              <a:rPr lang="en-US" b="true" sz="3300">
                <a:solidFill>
                  <a:srgbClr val="185079"/>
                </a:solidFill>
                <a:latin typeface="Open Sauce Bold"/>
                <a:ea typeface="Open Sauce Bold"/>
                <a:cs typeface="Open Sauce Bold"/>
                <a:sym typeface="Open Sauce Bold"/>
              </a:rPr>
              <a:t>F</a:t>
            </a:r>
            <a:r>
              <a:rPr lang="en-US" b="true" sz="3300">
                <a:solidFill>
                  <a:srgbClr val="185079"/>
                </a:solidFill>
                <a:latin typeface="Open Sauce Bold"/>
                <a:ea typeface="Open Sauce Bold"/>
                <a:cs typeface="Open Sauce Bold"/>
                <a:sym typeface="Open Sauce Bold"/>
              </a:rPr>
              <a:t>rontend</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React.js</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Angular</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Vue.js</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HTML5</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CSS3</a:t>
            </a:r>
          </a:p>
          <a:p>
            <a:pPr algn="just" marL="712470" indent="-356235" lvl="1">
              <a:lnSpc>
                <a:spcPts val="4917"/>
              </a:lnSpc>
              <a:buFont typeface="Arial"/>
              <a:buChar char="•"/>
            </a:pPr>
            <a:r>
              <a:rPr lang="en-US" sz="3300">
                <a:solidFill>
                  <a:srgbClr val="185079"/>
                </a:solidFill>
                <a:latin typeface="Open Sauce"/>
                <a:ea typeface="Open Sauce"/>
                <a:cs typeface="Open Sauce"/>
                <a:sym typeface="Open Sauce"/>
              </a:rPr>
              <a:t>TypeScript</a:t>
            </a:r>
          </a:p>
          <a:p>
            <a:pPr algn="just">
              <a:lnSpc>
                <a:spcPts val="4917"/>
              </a:lnSpc>
            </a:pPr>
          </a:p>
        </p:txBody>
      </p:sp>
      <p:grpSp>
        <p:nvGrpSpPr>
          <p:cNvPr name="Group 11" id="11"/>
          <p:cNvGrpSpPr/>
          <p:nvPr/>
        </p:nvGrpSpPr>
        <p:grpSpPr>
          <a:xfrm rot="0">
            <a:off x="5818080" y="2533870"/>
            <a:ext cx="359553" cy="35955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13" id="13"/>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14" id="14"/>
          <p:cNvGrpSpPr/>
          <p:nvPr/>
        </p:nvGrpSpPr>
        <p:grpSpPr>
          <a:xfrm rot="0">
            <a:off x="9635208" y="2533870"/>
            <a:ext cx="359553" cy="3595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16" id="16"/>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17" id="17"/>
          <p:cNvGrpSpPr/>
          <p:nvPr/>
        </p:nvGrpSpPr>
        <p:grpSpPr>
          <a:xfrm rot="0">
            <a:off x="13452337" y="2533870"/>
            <a:ext cx="359553" cy="35955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19" id="19"/>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20" id="20"/>
          <p:cNvSpPr txBox="true"/>
          <p:nvPr/>
        </p:nvSpPr>
        <p:spPr>
          <a:xfrm rot="0">
            <a:off x="3477421" y="1123950"/>
            <a:ext cx="11333159"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TECHNOLOGY STACK</a:t>
            </a:r>
          </a:p>
        </p:txBody>
      </p:sp>
      <p:sp>
        <p:nvSpPr>
          <p:cNvPr name="Freeform 21" id="21"/>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22" id="22"/>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3193386"/>
            <a:ext cx="10155052" cy="1965964"/>
          </a:xfrm>
          <a:prstGeom prst="rect">
            <a:avLst/>
          </a:prstGeom>
        </p:spPr>
        <p:txBody>
          <a:bodyPr anchor="t" rtlCol="false" tIns="0" lIns="0" bIns="0" rIns="0">
            <a:spAutoFit/>
          </a:bodyPr>
          <a:lstStyle/>
          <a:p>
            <a:pPr algn="l">
              <a:lnSpc>
                <a:spcPts val="15120"/>
              </a:lnSpc>
            </a:pPr>
            <a:r>
              <a:rPr lang="en-US" sz="14000" spc="-826">
                <a:solidFill>
                  <a:srgbClr val="185079"/>
                </a:solidFill>
                <a:latin typeface="Open Sauce"/>
                <a:ea typeface="Open Sauce"/>
                <a:cs typeface="Open Sauce"/>
                <a:sym typeface="Open Sauce"/>
              </a:rPr>
              <a:t>THANK YOU</a:t>
            </a:r>
          </a:p>
        </p:txBody>
      </p:sp>
      <p:sp>
        <p:nvSpPr>
          <p:cNvPr name="Freeform 4" id="4"/>
          <p:cNvSpPr/>
          <p:nvPr/>
        </p:nvSpPr>
        <p:spPr>
          <a:xfrm flipH="false" flipV="false" rot="0">
            <a:off x="5608035" y="-4316939"/>
            <a:ext cx="22188662" cy="18920878"/>
          </a:xfrm>
          <a:custGeom>
            <a:avLst/>
            <a:gdLst/>
            <a:ahLst/>
            <a:cxnLst/>
            <a:rect r="r" b="b" t="t" l="l"/>
            <a:pathLst>
              <a:path h="18920878" w="22188662">
                <a:moveTo>
                  <a:pt x="0" y="0"/>
                </a:moveTo>
                <a:lnTo>
                  <a:pt x="22188662" y="0"/>
                </a:lnTo>
                <a:lnTo>
                  <a:pt x="22188662" y="18920878"/>
                </a:lnTo>
                <a:lnTo>
                  <a:pt x="0" y="18920878"/>
                </a:lnTo>
                <a:lnTo>
                  <a:pt x="0" y="0"/>
                </a:lnTo>
                <a:close/>
              </a:path>
            </a:pathLst>
          </a:custGeom>
          <a:blipFill>
            <a:blip r:embed="rId3"/>
            <a:stretch>
              <a:fillRect l="0" t="0" r="0" b="0"/>
            </a:stretch>
          </a:blipFill>
        </p:spPr>
      </p:sp>
      <p:sp>
        <p:nvSpPr>
          <p:cNvPr name="TextBox 5" id="5"/>
          <p:cNvSpPr txBox="true"/>
          <p:nvPr/>
        </p:nvSpPr>
        <p:spPr>
          <a:xfrm rot="0">
            <a:off x="1028700" y="5001928"/>
            <a:ext cx="13616443" cy="2253611"/>
          </a:xfrm>
          <a:prstGeom prst="rect">
            <a:avLst/>
          </a:prstGeom>
        </p:spPr>
        <p:txBody>
          <a:bodyPr anchor="t" rtlCol="false" tIns="0" lIns="0" bIns="0" rIns="0">
            <a:spAutoFit/>
          </a:bodyPr>
          <a:lstStyle/>
          <a:p>
            <a:pPr algn="l" marL="0" indent="0" lvl="0">
              <a:lnSpc>
                <a:spcPts val="17279"/>
              </a:lnSpc>
              <a:spcBef>
                <a:spcPct val="0"/>
              </a:spcBef>
            </a:pPr>
            <a:r>
              <a:rPr lang="en-US" b="true" sz="15999" spc="-943">
                <a:solidFill>
                  <a:srgbClr val="185079"/>
                </a:solidFill>
                <a:latin typeface="Open Sauce Semi-Bold"/>
                <a:ea typeface="Open Sauce Semi-Bold"/>
                <a:cs typeface="Open Sauce Semi-Bold"/>
                <a:sym typeface="Open Sauce Semi-Bold"/>
              </a:rPr>
              <a:t>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DAHQMeVIWjA</dc:identifier>
  <dcterms:modified xsi:type="dcterms:W3CDTF">2011-08-01T06:04:30Z</dcterms:modified>
  <cp:revision>1</cp:revision>
  <dc:title>NeuroForge Enterprise SDLC Platform</dc:title>
</cp:coreProperties>
</file>