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Bricolage Grotesque" charset="1" panose="020B0605040402000204"/>
      <p:regular r:id="rId14"/>
    </p:embeddedFont>
    <p:embeddedFont>
      <p:font typeface="Bricolage Grotesque Bold" charset="1" panose="020B0605040402000204"/>
      <p:regular r:id="rId15"/>
    </p:embeddedFont>
    <p:embeddedFont>
      <p:font typeface="Aileron" charset="1" panose="00000500000000000000"/>
      <p:regular r:id="rId16"/>
    </p:embeddedFont>
    <p:embeddedFont>
      <p:font typeface="Aileron Bold" charset="1" panose="00000800000000000000"/>
      <p:regular r:id="rId17"/>
    </p:embeddedFont>
    <p:embeddedFont>
      <p:font typeface="Aileron Light" charset="1" panose="000004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7314118">
            <a:off x="-2046524" y="3776605"/>
            <a:ext cx="7730547" cy="8766599"/>
          </a:xfrm>
          <a:custGeom>
            <a:avLst/>
            <a:gdLst/>
            <a:ahLst/>
            <a:cxnLst/>
            <a:rect r="r" b="b" t="t" l="l"/>
            <a:pathLst>
              <a:path h="8766599" w="7730547">
                <a:moveTo>
                  <a:pt x="0" y="0"/>
                </a:moveTo>
                <a:lnTo>
                  <a:pt x="7730547" y="0"/>
                </a:lnTo>
                <a:lnTo>
                  <a:pt x="7730547" y="8766600"/>
                </a:lnTo>
                <a:lnTo>
                  <a:pt x="0" y="876660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5242124"/>
            <a:ext cx="10235751" cy="2413216"/>
          </a:xfrm>
          <a:prstGeom prst="rect">
            <a:avLst/>
          </a:prstGeom>
        </p:spPr>
        <p:txBody>
          <a:bodyPr anchor="t" rtlCol="false" tIns="0" lIns="0" bIns="0" rIns="0">
            <a:spAutoFit/>
          </a:bodyPr>
          <a:lstStyle/>
          <a:p>
            <a:pPr algn="l" marL="0" indent="0" lvl="0">
              <a:lnSpc>
                <a:spcPts val="19763"/>
              </a:lnSpc>
              <a:spcBef>
                <a:spcPct val="0"/>
              </a:spcBef>
            </a:pPr>
            <a:r>
              <a:rPr lang="en-US" sz="14116" spc="-183">
                <a:solidFill>
                  <a:srgbClr val="377272"/>
                </a:solidFill>
                <a:latin typeface="Bricolage Grotesque"/>
                <a:ea typeface="Bricolage Grotesque"/>
                <a:cs typeface="Bricolage Grotesque"/>
                <a:sym typeface="Bricolage Grotesque"/>
              </a:rPr>
              <a:t>Document</a:t>
            </a:r>
          </a:p>
        </p:txBody>
      </p:sp>
      <p:sp>
        <p:nvSpPr>
          <p:cNvPr name="Freeform 4" id="4"/>
          <p:cNvSpPr/>
          <p:nvPr/>
        </p:nvSpPr>
        <p:spPr>
          <a:xfrm flipH="false" flipV="false" rot="5262638">
            <a:off x="-2056903" y="5761004"/>
            <a:ext cx="7431557" cy="7772988"/>
          </a:xfrm>
          <a:custGeom>
            <a:avLst/>
            <a:gdLst/>
            <a:ahLst/>
            <a:cxnLst/>
            <a:rect r="r" b="b" t="t" l="l"/>
            <a:pathLst>
              <a:path h="7772988" w="7431557">
                <a:moveTo>
                  <a:pt x="0" y="0"/>
                </a:moveTo>
                <a:lnTo>
                  <a:pt x="7431557" y="0"/>
                </a:lnTo>
                <a:lnTo>
                  <a:pt x="7431557" y="7772988"/>
                </a:lnTo>
                <a:lnTo>
                  <a:pt x="0" y="7772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10244661" y="6285457"/>
            <a:ext cx="7014639" cy="929247"/>
            <a:chOff x="0" y="0"/>
            <a:chExt cx="1847477" cy="244740"/>
          </a:xfrm>
        </p:grpSpPr>
        <p:sp>
          <p:nvSpPr>
            <p:cNvPr name="Freeform 6" id="6"/>
            <p:cNvSpPr/>
            <p:nvPr/>
          </p:nvSpPr>
          <p:spPr>
            <a:xfrm flipH="false" flipV="false" rot="0">
              <a:off x="0" y="0"/>
              <a:ext cx="1847477" cy="244740"/>
            </a:xfrm>
            <a:custGeom>
              <a:avLst/>
              <a:gdLst/>
              <a:ahLst/>
              <a:cxnLst/>
              <a:rect r="r" b="b" t="t" l="l"/>
              <a:pathLst>
                <a:path h="244740" w="1847477">
                  <a:moveTo>
                    <a:pt x="110368" y="0"/>
                  </a:moveTo>
                  <a:lnTo>
                    <a:pt x="1737109" y="0"/>
                  </a:lnTo>
                  <a:cubicBezTo>
                    <a:pt x="1766380" y="0"/>
                    <a:pt x="1794453" y="11628"/>
                    <a:pt x="1815151" y="32326"/>
                  </a:cubicBezTo>
                  <a:cubicBezTo>
                    <a:pt x="1835849" y="53024"/>
                    <a:pt x="1847477" y="81097"/>
                    <a:pt x="1847477" y="110368"/>
                  </a:cubicBezTo>
                  <a:lnTo>
                    <a:pt x="1847477" y="134372"/>
                  </a:lnTo>
                  <a:cubicBezTo>
                    <a:pt x="1847477" y="163643"/>
                    <a:pt x="1835849" y="191716"/>
                    <a:pt x="1815151" y="212414"/>
                  </a:cubicBezTo>
                  <a:cubicBezTo>
                    <a:pt x="1794453" y="233112"/>
                    <a:pt x="1766380" y="244740"/>
                    <a:pt x="1737109" y="244740"/>
                  </a:cubicBezTo>
                  <a:lnTo>
                    <a:pt x="110368" y="244740"/>
                  </a:lnTo>
                  <a:cubicBezTo>
                    <a:pt x="81097" y="244740"/>
                    <a:pt x="53024" y="233112"/>
                    <a:pt x="32326" y="212414"/>
                  </a:cubicBezTo>
                  <a:cubicBezTo>
                    <a:pt x="11628" y="191716"/>
                    <a:pt x="0" y="163643"/>
                    <a:pt x="0" y="134372"/>
                  </a:cubicBezTo>
                  <a:lnTo>
                    <a:pt x="0" y="110368"/>
                  </a:lnTo>
                  <a:cubicBezTo>
                    <a:pt x="0" y="81097"/>
                    <a:pt x="11628" y="53024"/>
                    <a:pt x="32326" y="32326"/>
                  </a:cubicBezTo>
                  <a:cubicBezTo>
                    <a:pt x="53024" y="11628"/>
                    <a:pt x="81097" y="0"/>
                    <a:pt x="110368" y="0"/>
                  </a:cubicBezTo>
                  <a:close/>
                </a:path>
              </a:pathLst>
            </a:custGeom>
            <a:ln w="19050" cap="rnd">
              <a:gradFill>
                <a:gsLst>
                  <a:gs pos="0">
                    <a:srgbClr val="3B6261">
                      <a:alpha val="100000"/>
                    </a:srgbClr>
                  </a:gs>
                  <a:gs pos="100000">
                    <a:srgbClr val="6F9F97">
                      <a:alpha val="100000"/>
                    </a:srgbClr>
                  </a:gs>
                </a:gsLst>
                <a:lin ang="0"/>
              </a:gradFill>
              <a:prstDash val="solid"/>
              <a:round/>
            </a:ln>
          </p:spPr>
        </p:sp>
        <p:sp>
          <p:nvSpPr>
            <p:cNvPr name="TextBox 7" id="7"/>
            <p:cNvSpPr txBox="true"/>
            <p:nvPr/>
          </p:nvSpPr>
          <p:spPr>
            <a:xfrm>
              <a:off x="0" y="-38100"/>
              <a:ext cx="1847477" cy="282840"/>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10291582">
            <a:off x="13219273" y="-1371032"/>
            <a:ext cx="6287330" cy="7129962"/>
          </a:xfrm>
          <a:custGeom>
            <a:avLst/>
            <a:gdLst/>
            <a:ahLst/>
            <a:cxnLst/>
            <a:rect r="r" b="b" t="t" l="l"/>
            <a:pathLst>
              <a:path h="7129962" w="6287330">
                <a:moveTo>
                  <a:pt x="0" y="0"/>
                </a:moveTo>
                <a:lnTo>
                  <a:pt x="6287331" y="0"/>
                </a:lnTo>
                <a:lnTo>
                  <a:pt x="6287331" y="7129962"/>
                </a:lnTo>
                <a:lnTo>
                  <a:pt x="0" y="712996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9" id="9"/>
          <p:cNvSpPr txBox="true"/>
          <p:nvPr/>
        </p:nvSpPr>
        <p:spPr>
          <a:xfrm rot="0">
            <a:off x="1028700" y="1595115"/>
            <a:ext cx="11975624" cy="4347708"/>
          </a:xfrm>
          <a:prstGeom prst="rect">
            <a:avLst/>
          </a:prstGeom>
        </p:spPr>
        <p:txBody>
          <a:bodyPr anchor="t" rtlCol="false" tIns="0" lIns="0" bIns="0" rIns="0">
            <a:spAutoFit/>
          </a:bodyPr>
          <a:lstStyle/>
          <a:p>
            <a:pPr algn="l" marL="0" indent="0" lvl="0">
              <a:lnSpc>
                <a:spcPts val="35593"/>
              </a:lnSpc>
              <a:spcBef>
                <a:spcPct val="0"/>
              </a:spcBef>
            </a:pPr>
            <a:r>
              <a:rPr lang="en-US" b="true" sz="25423" spc="-330">
                <a:solidFill>
                  <a:srgbClr val="2E6D6D"/>
                </a:solidFill>
                <a:latin typeface="Bricolage Grotesque Bold"/>
                <a:ea typeface="Bricolage Grotesque Bold"/>
                <a:cs typeface="Bricolage Grotesque Bold"/>
                <a:sym typeface="Bricolage Grotesque Bold"/>
              </a:rPr>
              <a:t>SRS</a:t>
            </a:r>
          </a:p>
        </p:txBody>
      </p:sp>
      <p:sp>
        <p:nvSpPr>
          <p:cNvPr name="TextBox 10" id="10"/>
          <p:cNvSpPr txBox="true"/>
          <p:nvPr/>
        </p:nvSpPr>
        <p:spPr>
          <a:xfrm rot="0">
            <a:off x="10773135" y="6588786"/>
            <a:ext cx="5957691" cy="427364"/>
          </a:xfrm>
          <a:prstGeom prst="rect">
            <a:avLst/>
          </a:prstGeom>
        </p:spPr>
        <p:txBody>
          <a:bodyPr anchor="t" rtlCol="false" tIns="0" lIns="0" bIns="0" rIns="0">
            <a:spAutoFit/>
          </a:bodyPr>
          <a:lstStyle/>
          <a:p>
            <a:pPr algn="just" marL="0" indent="0" lvl="0">
              <a:lnSpc>
                <a:spcPts val="3191"/>
              </a:lnSpc>
              <a:spcBef>
                <a:spcPct val="0"/>
              </a:spcBef>
            </a:pPr>
            <a:r>
              <a:rPr lang="en-US" sz="3546">
                <a:solidFill>
                  <a:srgbClr val="377272"/>
                </a:solidFill>
                <a:latin typeface="Aileron"/>
                <a:ea typeface="Aileron"/>
                <a:cs typeface="Aileron"/>
                <a:sym typeface="Aileron"/>
              </a:rPr>
              <a:t>NeuroForge SDLC Platform</a:t>
            </a:r>
          </a:p>
        </p:txBody>
      </p:sp>
      <p:sp>
        <p:nvSpPr>
          <p:cNvPr name="TextBox 11" id="11"/>
          <p:cNvSpPr txBox="true"/>
          <p:nvPr/>
        </p:nvSpPr>
        <p:spPr>
          <a:xfrm rot="0">
            <a:off x="7364643" y="8942089"/>
            <a:ext cx="3558715" cy="291465"/>
          </a:xfrm>
          <a:prstGeom prst="rect">
            <a:avLst/>
          </a:prstGeom>
        </p:spPr>
        <p:txBody>
          <a:bodyPr anchor="t" rtlCol="false" tIns="0" lIns="0" bIns="0" rIns="0">
            <a:spAutoFit/>
          </a:bodyPr>
          <a:lstStyle/>
          <a:p>
            <a:pPr algn="ctr" marL="0" indent="0" lvl="0">
              <a:lnSpc>
                <a:spcPts val="2160"/>
              </a:lnSpc>
              <a:spcBef>
                <a:spcPct val="0"/>
              </a:spcBef>
            </a:pPr>
            <a:r>
              <a:rPr lang="en-US" sz="2400">
                <a:solidFill>
                  <a:srgbClr val="377272"/>
                </a:solidFill>
                <a:latin typeface="Aileron"/>
                <a:ea typeface="Aileron"/>
                <a:cs typeface="Aileron"/>
                <a:sym typeface="Aileron"/>
              </a:rPr>
              <a:t>July 29, 2026</a:t>
            </a:r>
          </a:p>
        </p:txBody>
      </p:sp>
      <p:sp>
        <p:nvSpPr>
          <p:cNvPr name="TextBox 12" id="12"/>
          <p:cNvSpPr txBox="true"/>
          <p:nvPr/>
        </p:nvSpPr>
        <p:spPr>
          <a:xfrm rot="0">
            <a:off x="1028700" y="8986856"/>
            <a:ext cx="2010839" cy="291465"/>
          </a:xfrm>
          <a:prstGeom prst="rect">
            <a:avLst/>
          </a:prstGeom>
        </p:spPr>
        <p:txBody>
          <a:bodyPr anchor="t" rtlCol="false" tIns="0" lIns="0" bIns="0" rIns="0">
            <a:spAutoFit/>
          </a:bodyPr>
          <a:lstStyle/>
          <a:p>
            <a:pPr algn="just" marL="0" indent="0" lvl="0">
              <a:lnSpc>
                <a:spcPts val="2160"/>
              </a:lnSpc>
              <a:spcBef>
                <a:spcPct val="0"/>
              </a:spcBef>
            </a:pPr>
            <a:r>
              <a:rPr lang="en-US" sz="2400">
                <a:solidFill>
                  <a:srgbClr val="377272"/>
                </a:solidFill>
                <a:latin typeface="Aileron"/>
                <a:ea typeface="Aileron"/>
                <a:cs typeface="Aileron"/>
                <a:sym typeface="Aileron"/>
              </a:rPr>
              <a:t>Presented by :</a:t>
            </a:r>
          </a:p>
        </p:txBody>
      </p:sp>
      <p:sp>
        <p:nvSpPr>
          <p:cNvPr name="TextBox 13" id="13"/>
          <p:cNvSpPr txBox="true"/>
          <p:nvPr/>
        </p:nvSpPr>
        <p:spPr>
          <a:xfrm rot="0">
            <a:off x="3187086" y="8986856"/>
            <a:ext cx="3507323" cy="291465"/>
          </a:xfrm>
          <a:prstGeom prst="rect">
            <a:avLst/>
          </a:prstGeom>
        </p:spPr>
        <p:txBody>
          <a:bodyPr anchor="t" rtlCol="false" tIns="0" lIns="0" bIns="0" rIns="0">
            <a:spAutoFit/>
          </a:bodyPr>
          <a:lstStyle/>
          <a:p>
            <a:pPr algn="just" marL="0" indent="0" lvl="0">
              <a:lnSpc>
                <a:spcPts val="2160"/>
              </a:lnSpc>
              <a:spcBef>
                <a:spcPct val="0"/>
              </a:spcBef>
            </a:pPr>
            <a:r>
              <a:rPr lang="en-US" b="true" sz="2400">
                <a:solidFill>
                  <a:srgbClr val="377272"/>
                </a:solidFill>
                <a:latin typeface="Aileron Bold"/>
                <a:ea typeface="Aileron Bold"/>
                <a:cs typeface="Aileron Bold"/>
                <a:sym typeface="Aileron Bold"/>
              </a:rPr>
              <a:t>Praveen Kumar Ramesh</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2201486">
            <a:off x="12290109" y="1248869"/>
            <a:ext cx="9368655" cy="9799083"/>
          </a:xfrm>
          <a:custGeom>
            <a:avLst/>
            <a:gdLst/>
            <a:ahLst/>
            <a:cxnLst/>
            <a:rect r="r" b="b" t="t" l="l"/>
            <a:pathLst>
              <a:path h="9799083" w="9368655">
                <a:moveTo>
                  <a:pt x="0" y="0"/>
                </a:moveTo>
                <a:lnTo>
                  <a:pt x="9368655" y="0"/>
                </a:lnTo>
                <a:lnTo>
                  <a:pt x="9368655" y="9799083"/>
                </a:lnTo>
                <a:lnTo>
                  <a:pt x="0" y="9799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14542">
            <a:off x="-4124265" y="-3151675"/>
            <a:ext cx="9368655" cy="9799083"/>
          </a:xfrm>
          <a:custGeom>
            <a:avLst/>
            <a:gdLst/>
            <a:ahLst/>
            <a:cxnLst/>
            <a:rect r="r" b="b" t="t" l="l"/>
            <a:pathLst>
              <a:path h="9799083" w="9368655">
                <a:moveTo>
                  <a:pt x="0" y="0"/>
                </a:moveTo>
                <a:lnTo>
                  <a:pt x="9368656" y="0"/>
                </a:lnTo>
                <a:lnTo>
                  <a:pt x="9368656" y="9799083"/>
                </a:lnTo>
                <a:lnTo>
                  <a:pt x="0" y="97990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2859110"/>
            <a:ext cx="16230600" cy="6550025"/>
          </a:xfrm>
          <a:prstGeom prst="rect">
            <a:avLst/>
          </a:prstGeom>
        </p:spPr>
        <p:txBody>
          <a:bodyPr anchor="t" rtlCol="false" tIns="0" lIns="0" bIns="0" rIns="0">
            <a:spAutoFit/>
          </a:bodyPr>
          <a:lstStyle/>
          <a:p>
            <a:pPr algn="just">
              <a:lnSpc>
                <a:spcPts val="3249"/>
              </a:lnSpc>
            </a:pPr>
            <a:r>
              <a:rPr lang="en-US" sz="2499" b="true">
                <a:solidFill>
                  <a:srgbClr val="2E6D6D"/>
                </a:solidFill>
                <a:latin typeface="Aileron Bold"/>
                <a:ea typeface="Aileron Bold"/>
                <a:cs typeface="Aileron Bold"/>
                <a:sym typeface="Aileron Bold"/>
              </a:rPr>
              <a:t>Purpose</a:t>
            </a:r>
          </a:p>
          <a:p>
            <a:pPr algn="just">
              <a:lnSpc>
                <a:spcPts val="3249"/>
              </a:lnSpc>
            </a:pPr>
            <a:r>
              <a:rPr lang="en-US" sz="2499">
                <a:solidFill>
                  <a:srgbClr val="2E6D6D"/>
                </a:solidFill>
                <a:latin typeface="Aileron"/>
                <a:ea typeface="Aileron"/>
                <a:cs typeface="Aileron"/>
                <a:sym typeface="Aileron"/>
              </a:rPr>
              <a:t>NeuroF</a:t>
            </a:r>
            <a:r>
              <a:rPr lang="en-US" sz="2499">
                <a:solidFill>
                  <a:srgbClr val="2E6D6D"/>
                </a:solidFill>
                <a:latin typeface="Aileron"/>
                <a:ea typeface="Aileron"/>
                <a:cs typeface="Aileron"/>
                <a:sym typeface="Aileron"/>
              </a:rPr>
              <a:t>orge Enterprise SDLC Platform is an AI-powered software development platform designed to streamline and manage the entire Software Development Life Cycle (SDLC) within a single, integrated environment. Its primary purpose is to improve collaboration among project managers, business analysts, developers, testers, DevOps engineers, and stakeholders by providing a centralized workspace. The platform automates repetitive tasks such as requirement analysis, code generation, testing, documentation, and deployment using Artificial Intelligence, enabling organizations to develop high-quality, secure, and scalable software faster while reducing development costs and improving overall productivity.</a:t>
            </a:r>
          </a:p>
          <a:p>
            <a:pPr algn="just">
              <a:lnSpc>
                <a:spcPts val="3249"/>
              </a:lnSpc>
            </a:pPr>
          </a:p>
          <a:p>
            <a:pPr algn="just">
              <a:lnSpc>
                <a:spcPts val="3249"/>
              </a:lnSpc>
            </a:pPr>
            <a:r>
              <a:rPr lang="en-US" b="true" sz="2499">
                <a:solidFill>
                  <a:srgbClr val="2E6D6D"/>
                </a:solidFill>
                <a:latin typeface="Aileron Bold"/>
                <a:ea typeface="Aileron Bold"/>
                <a:cs typeface="Aileron Bold"/>
                <a:sym typeface="Aileron Bold"/>
              </a:rPr>
              <a:t>Scope</a:t>
            </a:r>
          </a:p>
          <a:p>
            <a:pPr algn="just">
              <a:lnSpc>
                <a:spcPts val="3249"/>
              </a:lnSpc>
            </a:pPr>
            <a:r>
              <a:rPr lang="en-US" sz="2499">
                <a:solidFill>
                  <a:srgbClr val="2E6D6D"/>
                </a:solidFill>
                <a:latin typeface="Aileron"/>
                <a:ea typeface="Aileron"/>
                <a:cs typeface="Aileron"/>
                <a:sym typeface="Aileron"/>
              </a:rPr>
              <a:t>The scope of NeuroForge covers all phases of the Software Development Life Cycle, including requirement gathering, system design, development, testing, deployment, monitoring, and maintenance. It provides project planning, task management, Git-based version control, AI-assisted coding, automated testing, CI/CD pipelines, cloud deployment, and real-time monitoring within a unified platform. NeuroForge also integrates with popular DevOps tools and cloud services, offering live dashboards, analytics, reporting, and performance monitoring to help organizations efficiently manage software projects from initial planning to long-term maintenance.</a:t>
            </a:r>
          </a:p>
        </p:txBody>
      </p:sp>
      <p:sp>
        <p:nvSpPr>
          <p:cNvPr name="TextBox 5" id="5"/>
          <p:cNvSpPr txBox="true"/>
          <p:nvPr/>
        </p:nvSpPr>
        <p:spPr>
          <a:xfrm rot="0">
            <a:off x="1954170" y="761694"/>
            <a:ext cx="14379660" cy="1512570"/>
          </a:xfrm>
          <a:prstGeom prst="rect">
            <a:avLst/>
          </a:prstGeom>
        </p:spPr>
        <p:txBody>
          <a:bodyPr anchor="t" rtlCol="false" tIns="0" lIns="0" bIns="0" rIns="0">
            <a:spAutoFit/>
          </a:bodyPr>
          <a:lstStyle/>
          <a:p>
            <a:pPr algn="ctr"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Introduction</a:t>
            </a:r>
          </a:p>
        </p:txBody>
      </p:sp>
      <p:sp>
        <p:nvSpPr>
          <p:cNvPr name="Freeform 6" id="6"/>
          <p:cNvSpPr/>
          <p:nvPr/>
        </p:nvSpPr>
        <p:spPr>
          <a:xfrm flipH="false" flipV="false" rot="-670073">
            <a:off x="13966277" y="-2197165"/>
            <a:ext cx="6016318" cy="6822629"/>
          </a:xfrm>
          <a:custGeom>
            <a:avLst/>
            <a:gdLst/>
            <a:ahLst/>
            <a:cxnLst/>
            <a:rect r="r" b="b" t="t" l="l"/>
            <a:pathLst>
              <a:path h="6822629" w="6016318">
                <a:moveTo>
                  <a:pt x="0" y="0"/>
                </a:moveTo>
                <a:lnTo>
                  <a:pt x="6016318" y="0"/>
                </a:lnTo>
                <a:lnTo>
                  <a:pt x="6016318" y="6822628"/>
                </a:lnTo>
                <a:lnTo>
                  <a:pt x="0" y="6822628"/>
                </a:lnTo>
                <a:lnTo>
                  <a:pt x="0"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grpSp>
        <p:nvGrpSpPr>
          <p:cNvPr name="Group 2" id="2"/>
          <p:cNvGrpSpPr/>
          <p:nvPr/>
        </p:nvGrpSpPr>
        <p:grpSpPr>
          <a:xfrm rot="0">
            <a:off x="1028700" y="7366741"/>
            <a:ext cx="4719538" cy="2610908"/>
            <a:chOff x="0" y="0"/>
            <a:chExt cx="1243006" cy="687646"/>
          </a:xfrm>
        </p:grpSpPr>
        <p:sp>
          <p:nvSpPr>
            <p:cNvPr name="Freeform 3" id="3"/>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4" id="4"/>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6784231" y="7366741"/>
            <a:ext cx="4719538" cy="2610908"/>
            <a:chOff x="0" y="0"/>
            <a:chExt cx="1243006" cy="687646"/>
          </a:xfrm>
        </p:grpSpPr>
        <p:sp>
          <p:nvSpPr>
            <p:cNvPr name="Freeform 6" id="6"/>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7" id="7"/>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5916891">
            <a:off x="14618773" y="5131328"/>
            <a:ext cx="5281054" cy="5988824"/>
          </a:xfrm>
          <a:custGeom>
            <a:avLst/>
            <a:gdLst/>
            <a:ahLst/>
            <a:cxnLst/>
            <a:rect r="r" b="b" t="t" l="l"/>
            <a:pathLst>
              <a:path h="5988824" w="5281054">
                <a:moveTo>
                  <a:pt x="0" y="0"/>
                </a:moveTo>
                <a:lnTo>
                  <a:pt x="5281054" y="0"/>
                </a:lnTo>
                <a:lnTo>
                  <a:pt x="5281054" y="5988824"/>
                </a:lnTo>
                <a:lnTo>
                  <a:pt x="0" y="598882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2488925" y="7366741"/>
            <a:ext cx="4719538" cy="2610908"/>
            <a:chOff x="0" y="0"/>
            <a:chExt cx="1243006" cy="687646"/>
          </a:xfrm>
        </p:grpSpPr>
        <p:sp>
          <p:nvSpPr>
            <p:cNvPr name="Freeform 10" id="10"/>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1" id="11"/>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sp>
        <p:nvSpPr>
          <p:cNvPr name="TextBox 12" id="12"/>
          <p:cNvSpPr txBox="true"/>
          <p:nvPr/>
        </p:nvSpPr>
        <p:spPr>
          <a:xfrm rot="0">
            <a:off x="1210350" y="7532339"/>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7 . QA / Test Engineer</a:t>
            </a:r>
          </a:p>
        </p:txBody>
      </p:sp>
      <p:sp>
        <p:nvSpPr>
          <p:cNvPr name="TextBox 13" id="13"/>
          <p:cNvSpPr txBox="true"/>
          <p:nvPr/>
        </p:nvSpPr>
        <p:spPr>
          <a:xfrm rot="0">
            <a:off x="1210350" y="8063214"/>
            <a:ext cx="4364236"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C</a:t>
            </a:r>
            <a:r>
              <a:rPr lang="en-US" sz="2199" spc="-15">
                <a:solidFill>
                  <a:srgbClr val="377272"/>
                </a:solidFill>
                <a:latin typeface="Aileron"/>
                <a:ea typeface="Aileron"/>
                <a:cs typeface="Aileron"/>
                <a:sym typeface="Aileron"/>
              </a:rPr>
              <a:t>reates test cases, performs manual and automated testing, identifies defects, verifies bug fixes, and ensures the software meets quality and performance standards.</a:t>
            </a:r>
          </a:p>
        </p:txBody>
      </p:sp>
      <p:sp>
        <p:nvSpPr>
          <p:cNvPr name="TextBox 14" id="14"/>
          <p:cNvSpPr txBox="true"/>
          <p:nvPr/>
        </p:nvSpPr>
        <p:spPr>
          <a:xfrm rot="0">
            <a:off x="4995375" y="106302"/>
            <a:ext cx="8128368" cy="1512570"/>
          </a:xfrm>
          <a:prstGeom prst="rect">
            <a:avLst/>
          </a:prstGeom>
        </p:spPr>
        <p:txBody>
          <a:bodyPr anchor="t" rtlCol="false" tIns="0" lIns="0" bIns="0" rIns="0">
            <a:spAutoFit/>
          </a:bodyPr>
          <a:lstStyle/>
          <a:p>
            <a:pPr algn="l"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User Types</a:t>
            </a:r>
          </a:p>
        </p:txBody>
      </p:sp>
      <p:sp>
        <p:nvSpPr>
          <p:cNvPr name="Freeform 15" id="15"/>
          <p:cNvSpPr/>
          <p:nvPr/>
        </p:nvSpPr>
        <p:spPr>
          <a:xfrm flipH="false" flipV="false" rot="10614542">
            <a:off x="-4124265" y="-3151675"/>
            <a:ext cx="9368655" cy="9799083"/>
          </a:xfrm>
          <a:custGeom>
            <a:avLst/>
            <a:gdLst/>
            <a:ahLst/>
            <a:cxnLst/>
            <a:rect r="r" b="b" t="t" l="l"/>
            <a:pathLst>
              <a:path h="9799083" w="9368655">
                <a:moveTo>
                  <a:pt x="0" y="0"/>
                </a:moveTo>
                <a:lnTo>
                  <a:pt x="9368656" y="0"/>
                </a:lnTo>
                <a:lnTo>
                  <a:pt x="9368656" y="9799083"/>
                </a:lnTo>
                <a:lnTo>
                  <a:pt x="0" y="97990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6" id="16"/>
          <p:cNvGrpSpPr/>
          <p:nvPr/>
        </p:nvGrpSpPr>
        <p:grpSpPr>
          <a:xfrm rot="0">
            <a:off x="1028700" y="4492806"/>
            <a:ext cx="4719538" cy="2610908"/>
            <a:chOff x="0" y="0"/>
            <a:chExt cx="1243006" cy="687646"/>
          </a:xfrm>
        </p:grpSpPr>
        <p:sp>
          <p:nvSpPr>
            <p:cNvPr name="Freeform 17" id="17"/>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18" id="18"/>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grpSp>
        <p:nvGrpSpPr>
          <p:cNvPr name="Group 19" id="19"/>
          <p:cNvGrpSpPr/>
          <p:nvPr/>
        </p:nvGrpSpPr>
        <p:grpSpPr>
          <a:xfrm rot="0">
            <a:off x="1028700" y="1615199"/>
            <a:ext cx="4719538" cy="2610908"/>
            <a:chOff x="0" y="0"/>
            <a:chExt cx="1243006" cy="687646"/>
          </a:xfrm>
        </p:grpSpPr>
        <p:sp>
          <p:nvSpPr>
            <p:cNvPr name="Freeform 20" id="20"/>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21" id="21"/>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grpSp>
        <p:nvGrpSpPr>
          <p:cNvPr name="Group 22" id="22"/>
          <p:cNvGrpSpPr/>
          <p:nvPr/>
        </p:nvGrpSpPr>
        <p:grpSpPr>
          <a:xfrm rot="0">
            <a:off x="6797299" y="4492806"/>
            <a:ext cx="4719538" cy="2610908"/>
            <a:chOff x="0" y="0"/>
            <a:chExt cx="1243006" cy="687646"/>
          </a:xfrm>
        </p:grpSpPr>
        <p:sp>
          <p:nvSpPr>
            <p:cNvPr name="Freeform 23" id="23"/>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24" id="24"/>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6797299" y="1615199"/>
            <a:ext cx="4719538" cy="2610908"/>
            <a:chOff x="0" y="0"/>
            <a:chExt cx="1243006" cy="687646"/>
          </a:xfrm>
        </p:grpSpPr>
        <p:sp>
          <p:nvSpPr>
            <p:cNvPr name="Freeform 26" id="26"/>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27" id="27"/>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0">
            <a:off x="12488925" y="4492806"/>
            <a:ext cx="4719538" cy="2610908"/>
            <a:chOff x="0" y="0"/>
            <a:chExt cx="1243006" cy="687646"/>
          </a:xfrm>
        </p:grpSpPr>
        <p:sp>
          <p:nvSpPr>
            <p:cNvPr name="Freeform 29" id="29"/>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30" id="30"/>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0">
            <a:off x="12488925" y="1621358"/>
            <a:ext cx="4719538" cy="2610908"/>
            <a:chOff x="0" y="0"/>
            <a:chExt cx="1243006" cy="687646"/>
          </a:xfrm>
        </p:grpSpPr>
        <p:sp>
          <p:nvSpPr>
            <p:cNvPr name="Freeform 32" id="32"/>
            <p:cNvSpPr/>
            <p:nvPr/>
          </p:nvSpPr>
          <p:spPr>
            <a:xfrm flipH="false" flipV="false" rot="0">
              <a:off x="0" y="0"/>
              <a:ext cx="1243006" cy="687646"/>
            </a:xfrm>
            <a:custGeom>
              <a:avLst/>
              <a:gdLst/>
              <a:ahLst/>
              <a:cxnLst/>
              <a:rect r="r" b="b" t="t" l="l"/>
              <a:pathLst>
                <a:path h="687646" w="1243006">
                  <a:moveTo>
                    <a:pt x="49212" y="0"/>
                  </a:moveTo>
                  <a:lnTo>
                    <a:pt x="1193794" y="0"/>
                  </a:lnTo>
                  <a:cubicBezTo>
                    <a:pt x="1220973" y="0"/>
                    <a:pt x="1243006" y="22033"/>
                    <a:pt x="1243006" y="49212"/>
                  </a:cubicBezTo>
                  <a:lnTo>
                    <a:pt x="1243006" y="638435"/>
                  </a:lnTo>
                  <a:cubicBezTo>
                    <a:pt x="1243006" y="651486"/>
                    <a:pt x="1237821" y="664004"/>
                    <a:pt x="1228592" y="673233"/>
                  </a:cubicBezTo>
                  <a:cubicBezTo>
                    <a:pt x="1219363" y="682462"/>
                    <a:pt x="1206846" y="687646"/>
                    <a:pt x="1193794" y="687646"/>
                  </a:cubicBezTo>
                  <a:lnTo>
                    <a:pt x="49212" y="687646"/>
                  </a:lnTo>
                  <a:cubicBezTo>
                    <a:pt x="22033" y="687646"/>
                    <a:pt x="0" y="665613"/>
                    <a:pt x="0" y="638435"/>
                  </a:cubicBezTo>
                  <a:lnTo>
                    <a:pt x="0" y="49212"/>
                  </a:lnTo>
                  <a:cubicBezTo>
                    <a:pt x="0" y="22033"/>
                    <a:pt x="22033" y="0"/>
                    <a:pt x="49212" y="0"/>
                  </a:cubicBezTo>
                  <a:close/>
                </a:path>
              </a:pathLst>
            </a:custGeom>
            <a:solidFill>
              <a:srgbClr val="EFF0EA"/>
            </a:solidFill>
            <a:ln w="19050" cap="rnd">
              <a:gradFill>
                <a:gsLst>
                  <a:gs pos="0">
                    <a:srgbClr val="3B6261">
                      <a:alpha val="100000"/>
                    </a:srgbClr>
                  </a:gs>
                  <a:gs pos="100000">
                    <a:srgbClr val="6F9F97">
                      <a:alpha val="100000"/>
                    </a:srgbClr>
                  </a:gs>
                </a:gsLst>
                <a:lin ang="0"/>
              </a:gradFill>
              <a:prstDash val="solid"/>
              <a:round/>
            </a:ln>
          </p:spPr>
        </p:sp>
        <p:sp>
          <p:nvSpPr>
            <p:cNvPr name="TextBox 33" id="33"/>
            <p:cNvSpPr txBox="true"/>
            <p:nvPr/>
          </p:nvSpPr>
          <p:spPr>
            <a:xfrm>
              <a:off x="0" y="-38100"/>
              <a:ext cx="1243006" cy="725746"/>
            </a:xfrm>
            <a:prstGeom prst="rect">
              <a:avLst/>
            </a:prstGeom>
          </p:spPr>
          <p:txBody>
            <a:bodyPr anchor="ctr" rtlCol="false" tIns="50800" lIns="50800" bIns="50800" rIns="50800"/>
            <a:lstStyle/>
            <a:p>
              <a:pPr algn="ctr">
                <a:lnSpc>
                  <a:spcPts val="2659"/>
                </a:lnSpc>
                <a:spcBef>
                  <a:spcPct val="0"/>
                </a:spcBef>
              </a:pPr>
            </a:p>
          </p:txBody>
        </p:sp>
      </p:grpSp>
      <p:sp>
        <p:nvSpPr>
          <p:cNvPr name="TextBox 34" id="34"/>
          <p:cNvSpPr txBox="true"/>
          <p:nvPr/>
        </p:nvSpPr>
        <p:spPr>
          <a:xfrm rot="0">
            <a:off x="1210350" y="4733925"/>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4 . Product Owner</a:t>
            </a:r>
          </a:p>
        </p:txBody>
      </p:sp>
      <p:sp>
        <p:nvSpPr>
          <p:cNvPr name="TextBox 35" id="35"/>
          <p:cNvSpPr txBox="true"/>
          <p:nvPr/>
        </p:nvSpPr>
        <p:spPr>
          <a:xfrm rot="0">
            <a:off x="1210350" y="1795491"/>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1 . System Administrator</a:t>
            </a:r>
          </a:p>
        </p:txBody>
      </p:sp>
      <p:sp>
        <p:nvSpPr>
          <p:cNvPr name="TextBox 36" id="36"/>
          <p:cNvSpPr txBox="true"/>
          <p:nvPr/>
        </p:nvSpPr>
        <p:spPr>
          <a:xfrm rot="0">
            <a:off x="1210350" y="2309511"/>
            <a:ext cx="4364236"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M</a:t>
            </a:r>
            <a:r>
              <a:rPr lang="en-US" sz="2199" spc="-15">
                <a:solidFill>
                  <a:srgbClr val="377272"/>
                </a:solidFill>
                <a:latin typeface="Aileron"/>
                <a:ea typeface="Aileron"/>
                <a:cs typeface="Aileron"/>
                <a:sym typeface="Aileron"/>
              </a:rPr>
              <a:t>anages the platform by creating user accounts, assigning roles and permissions, configuring system settings, maintaining security, and monitoring overall system .</a:t>
            </a:r>
          </a:p>
        </p:txBody>
      </p:sp>
      <p:sp>
        <p:nvSpPr>
          <p:cNvPr name="TextBox 37" id="37"/>
          <p:cNvSpPr txBox="true"/>
          <p:nvPr/>
        </p:nvSpPr>
        <p:spPr>
          <a:xfrm rot="0">
            <a:off x="6978024" y="1795491"/>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2 . Project Manager</a:t>
            </a:r>
          </a:p>
        </p:txBody>
      </p:sp>
      <p:sp>
        <p:nvSpPr>
          <p:cNvPr name="TextBox 38" id="38"/>
          <p:cNvSpPr txBox="true"/>
          <p:nvPr/>
        </p:nvSpPr>
        <p:spPr>
          <a:xfrm rot="0">
            <a:off x="12745562" y="1795491"/>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3 . Business Analyst</a:t>
            </a:r>
          </a:p>
        </p:txBody>
      </p:sp>
      <p:sp>
        <p:nvSpPr>
          <p:cNvPr name="TextBox 39" id="39"/>
          <p:cNvSpPr txBox="true"/>
          <p:nvPr/>
        </p:nvSpPr>
        <p:spPr>
          <a:xfrm rot="0">
            <a:off x="6978024" y="4733925"/>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5 . Software Architect</a:t>
            </a:r>
          </a:p>
        </p:txBody>
      </p:sp>
      <p:sp>
        <p:nvSpPr>
          <p:cNvPr name="TextBox 40" id="40"/>
          <p:cNvSpPr txBox="true"/>
          <p:nvPr/>
        </p:nvSpPr>
        <p:spPr>
          <a:xfrm rot="0">
            <a:off x="12720487" y="4733925"/>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6 . Developer</a:t>
            </a:r>
          </a:p>
        </p:txBody>
      </p:sp>
      <p:sp>
        <p:nvSpPr>
          <p:cNvPr name="TextBox 41" id="41"/>
          <p:cNvSpPr txBox="true"/>
          <p:nvPr/>
        </p:nvSpPr>
        <p:spPr>
          <a:xfrm rot="0">
            <a:off x="6978024" y="7532339"/>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8 . DevOps Engineer</a:t>
            </a:r>
          </a:p>
        </p:txBody>
      </p:sp>
      <p:sp>
        <p:nvSpPr>
          <p:cNvPr name="TextBox 42" id="42"/>
          <p:cNvSpPr txBox="true"/>
          <p:nvPr/>
        </p:nvSpPr>
        <p:spPr>
          <a:xfrm rot="0">
            <a:off x="12745562" y="7532339"/>
            <a:ext cx="4538813" cy="409575"/>
          </a:xfrm>
          <a:prstGeom prst="rect">
            <a:avLst/>
          </a:prstGeom>
        </p:spPr>
        <p:txBody>
          <a:bodyPr anchor="t" rtlCol="false" tIns="0" lIns="0" bIns="0" rIns="0">
            <a:spAutoFit/>
          </a:bodyPr>
          <a:lstStyle/>
          <a:p>
            <a:pPr algn="l">
              <a:lnSpc>
                <a:spcPts val="3000"/>
              </a:lnSpc>
            </a:pPr>
            <a:r>
              <a:rPr lang="en-US" sz="3000" spc="-150" b="true">
                <a:solidFill>
                  <a:srgbClr val="2E6D6D"/>
                </a:solidFill>
                <a:latin typeface="Bricolage Grotesque Bold"/>
                <a:ea typeface="Bricolage Grotesque Bold"/>
                <a:cs typeface="Bricolage Grotesque Bold"/>
                <a:sym typeface="Bricolage Grotesque Bold"/>
              </a:rPr>
              <a:t>9 . Client/Stakeholder</a:t>
            </a:r>
          </a:p>
        </p:txBody>
      </p:sp>
      <p:sp>
        <p:nvSpPr>
          <p:cNvPr name="TextBox 43" id="43"/>
          <p:cNvSpPr txBox="true"/>
          <p:nvPr/>
        </p:nvSpPr>
        <p:spPr>
          <a:xfrm rot="0">
            <a:off x="6978024" y="2309511"/>
            <a:ext cx="4364236"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Plans and m</a:t>
            </a:r>
            <a:r>
              <a:rPr lang="en-US" sz="2199" spc="-15">
                <a:solidFill>
                  <a:srgbClr val="377272"/>
                </a:solidFill>
                <a:latin typeface="Aileron"/>
                <a:ea typeface="Aileron"/>
                <a:cs typeface="Aileron"/>
                <a:sym typeface="Aileron"/>
              </a:rPr>
              <a:t>anages software projects by creating schedules, assigning tasks, tracking progress, managing resources, and ensuring projects are completed on time.</a:t>
            </a:r>
          </a:p>
        </p:txBody>
      </p:sp>
      <p:sp>
        <p:nvSpPr>
          <p:cNvPr name="TextBox 44" id="44"/>
          <p:cNvSpPr txBox="true"/>
          <p:nvPr/>
        </p:nvSpPr>
        <p:spPr>
          <a:xfrm rot="0">
            <a:off x="12604706" y="2309511"/>
            <a:ext cx="4487975"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Coll</a:t>
            </a:r>
            <a:r>
              <a:rPr lang="en-US" sz="2199" spc="-15">
                <a:solidFill>
                  <a:srgbClr val="377272"/>
                </a:solidFill>
                <a:latin typeface="Aileron"/>
                <a:ea typeface="Aileron"/>
                <a:cs typeface="Aileron"/>
                <a:sym typeface="Aileron"/>
              </a:rPr>
              <a:t>ects and analyzes business requirements from clients and stakeholders, prepares requirement documents, and ensures that the software meets business objectives.</a:t>
            </a:r>
          </a:p>
        </p:txBody>
      </p:sp>
      <p:sp>
        <p:nvSpPr>
          <p:cNvPr name="TextBox 45" id="45"/>
          <p:cNvSpPr txBox="true"/>
          <p:nvPr/>
        </p:nvSpPr>
        <p:spPr>
          <a:xfrm rot="0">
            <a:off x="1121062" y="5248275"/>
            <a:ext cx="4542812"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Defi</a:t>
            </a:r>
            <a:r>
              <a:rPr lang="en-US" sz="2199" spc="-15">
                <a:solidFill>
                  <a:srgbClr val="377272"/>
                </a:solidFill>
                <a:latin typeface="Aileron"/>
                <a:ea typeface="Aileron"/>
                <a:cs typeface="Aileron"/>
                <a:sym typeface="Aileron"/>
              </a:rPr>
              <a:t>nes the product vision, prioritizes features in the product backlog, approves requirements, and ensures the final product delivers maximum value to customers.</a:t>
            </a:r>
          </a:p>
        </p:txBody>
      </p:sp>
      <p:sp>
        <p:nvSpPr>
          <p:cNvPr name="TextBox 46" id="46"/>
          <p:cNvSpPr txBox="true"/>
          <p:nvPr/>
        </p:nvSpPr>
        <p:spPr>
          <a:xfrm rot="0">
            <a:off x="6872594" y="5257800"/>
            <a:ext cx="4542812"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Desig</a:t>
            </a:r>
            <a:r>
              <a:rPr lang="en-US" sz="2199" spc="-15">
                <a:solidFill>
                  <a:srgbClr val="377272"/>
                </a:solidFill>
                <a:latin typeface="Aileron"/>
                <a:ea typeface="Aileron"/>
                <a:cs typeface="Aileron"/>
                <a:sym typeface="Aileron"/>
              </a:rPr>
              <a:t>ns the overall system architecture, selects appropriate technologies, defines coding standards, and ensures the software is scalable, secure, and maintainable.</a:t>
            </a:r>
          </a:p>
        </p:txBody>
      </p:sp>
      <p:sp>
        <p:nvSpPr>
          <p:cNvPr name="TextBox 47" id="47"/>
          <p:cNvSpPr txBox="true"/>
          <p:nvPr/>
        </p:nvSpPr>
        <p:spPr>
          <a:xfrm rot="0">
            <a:off x="12577288" y="5248275"/>
            <a:ext cx="4542812"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De</a:t>
            </a:r>
            <a:r>
              <a:rPr lang="en-US" sz="2199" spc="-15">
                <a:solidFill>
                  <a:srgbClr val="377272"/>
                </a:solidFill>
                <a:latin typeface="Aileron"/>
                <a:ea typeface="Aileron"/>
                <a:cs typeface="Aileron"/>
                <a:sym typeface="Aileron"/>
              </a:rPr>
              <a:t>velops application features, writes and reviews code, fixes bugs, integrates APIs, and uses AI-assisted tools to improve coding efficiency and software quality.</a:t>
            </a:r>
          </a:p>
        </p:txBody>
      </p:sp>
      <p:sp>
        <p:nvSpPr>
          <p:cNvPr name="TextBox 48" id="48"/>
          <p:cNvSpPr txBox="true"/>
          <p:nvPr/>
        </p:nvSpPr>
        <p:spPr>
          <a:xfrm rot="0">
            <a:off x="6936463" y="8046689"/>
            <a:ext cx="4567306"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M</a:t>
            </a:r>
            <a:r>
              <a:rPr lang="en-US" sz="2199" spc="-15">
                <a:solidFill>
                  <a:srgbClr val="377272"/>
                </a:solidFill>
                <a:latin typeface="Aileron"/>
                <a:ea typeface="Aileron"/>
                <a:cs typeface="Aileron"/>
                <a:sym typeface="Aileron"/>
              </a:rPr>
              <a:t>anages CI/CD pipelines, automates software builds and deployments, monitors infrastructure, and ensures smooth integration between development and operations.</a:t>
            </a:r>
          </a:p>
        </p:txBody>
      </p:sp>
      <p:sp>
        <p:nvSpPr>
          <p:cNvPr name="TextBox 49" id="49"/>
          <p:cNvSpPr txBox="true"/>
          <p:nvPr/>
        </p:nvSpPr>
        <p:spPr>
          <a:xfrm rot="0">
            <a:off x="12662576" y="8030164"/>
            <a:ext cx="4430105" cy="1800860"/>
          </a:xfrm>
          <a:prstGeom prst="rect">
            <a:avLst/>
          </a:prstGeom>
        </p:spPr>
        <p:txBody>
          <a:bodyPr anchor="t" rtlCol="false" tIns="0" lIns="0" bIns="0" rIns="0">
            <a:spAutoFit/>
          </a:bodyPr>
          <a:lstStyle/>
          <a:p>
            <a:pPr algn="l">
              <a:lnSpc>
                <a:spcPts val="2859"/>
              </a:lnSpc>
            </a:pPr>
            <a:r>
              <a:rPr lang="en-US" sz="2199" spc="-15">
                <a:solidFill>
                  <a:srgbClr val="377272"/>
                </a:solidFill>
                <a:latin typeface="Aileron"/>
                <a:ea typeface="Aileron"/>
                <a:cs typeface="Aileron"/>
                <a:sym typeface="Aileron"/>
              </a:rPr>
              <a:t>R</a:t>
            </a:r>
            <a:r>
              <a:rPr lang="en-US" sz="2199" spc="-15">
                <a:solidFill>
                  <a:srgbClr val="377272"/>
                </a:solidFill>
                <a:latin typeface="Aileron"/>
                <a:ea typeface="Aileron"/>
                <a:cs typeface="Aileron"/>
                <a:sym typeface="Aileron"/>
              </a:rPr>
              <a:t>eviews project progress through dashboards, provides feedback, approves deliverables, and ensures the developed software satisfies business requirements.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TextBox 2" id="2"/>
          <p:cNvSpPr txBox="true"/>
          <p:nvPr/>
        </p:nvSpPr>
        <p:spPr>
          <a:xfrm rot="0">
            <a:off x="162321" y="247650"/>
            <a:ext cx="15521197" cy="1270018"/>
          </a:xfrm>
          <a:prstGeom prst="rect">
            <a:avLst/>
          </a:prstGeom>
        </p:spPr>
        <p:txBody>
          <a:bodyPr anchor="t" rtlCol="false" tIns="0" lIns="0" bIns="0" rIns="0">
            <a:spAutoFit/>
          </a:bodyPr>
          <a:lstStyle/>
          <a:p>
            <a:pPr algn="l" marL="0" indent="0" lvl="0">
              <a:lnSpc>
                <a:spcPts val="9200"/>
              </a:lnSpc>
            </a:pPr>
            <a:r>
              <a:rPr lang="en-US" b="true" sz="10000" spc="-130">
                <a:solidFill>
                  <a:srgbClr val="377272"/>
                </a:solidFill>
                <a:latin typeface="Bricolage Grotesque Bold"/>
                <a:ea typeface="Bricolage Grotesque Bold"/>
                <a:cs typeface="Bricolage Grotesque Bold"/>
                <a:sym typeface="Bricolage Grotesque Bold"/>
              </a:rPr>
              <a:t>Functional Requirements</a:t>
            </a:r>
          </a:p>
        </p:txBody>
      </p:sp>
      <p:sp>
        <p:nvSpPr>
          <p:cNvPr name="Freeform 3" id="3"/>
          <p:cNvSpPr/>
          <p:nvPr/>
        </p:nvSpPr>
        <p:spPr>
          <a:xfrm flipH="false" flipV="false" rot="-1891703">
            <a:off x="-37173" y="7687835"/>
            <a:ext cx="5084419" cy="5765836"/>
          </a:xfrm>
          <a:custGeom>
            <a:avLst/>
            <a:gdLst/>
            <a:ahLst/>
            <a:cxnLst/>
            <a:rect r="r" b="b" t="t" l="l"/>
            <a:pathLst>
              <a:path h="5765836" w="5084419">
                <a:moveTo>
                  <a:pt x="0" y="0"/>
                </a:moveTo>
                <a:lnTo>
                  <a:pt x="5084419" y="0"/>
                </a:lnTo>
                <a:lnTo>
                  <a:pt x="5084419" y="5765836"/>
                </a:lnTo>
                <a:lnTo>
                  <a:pt x="0" y="576583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422811" y="1498618"/>
            <a:ext cx="8457418" cy="8315960"/>
          </a:xfrm>
          <a:prstGeom prst="rect">
            <a:avLst/>
          </a:prstGeom>
        </p:spPr>
        <p:txBody>
          <a:bodyPr anchor="t" rtlCol="false" tIns="0" lIns="0" bIns="0" rIns="0">
            <a:spAutoFit/>
          </a:bodyPr>
          <a:lstStyle/>
          <a:p>
            <a:pPr algn="just">
              <a:lnSpc>
                <a:spcPts val="2859"/>
              </a:lnSpc>
            </a:pPr>
            <a:r>
              <a:rPr lang="en-US" b="true" sz="2199">
                <a:solidFill>
                  <a:srgbClr val="2E6D6D"/>
                </a:solidFill>
                <a:latin typeface="Aileron Bold"/>
                <a:ea typeface="Aileron Bold"/>
                <a:cs typeface="Aileron Bold"/>
                <a:sym typeface="Aileron Bold"/>
              </a:rPr>
              <a:t>1. User Authentication and Role-Based Access Control</a:t>
            </a:r>
          </a:p>
          <a:p>
            <a:pPr algn="just">
              <a:lnSpc>
                <a:spcPts val="2859"/>
              </a:lnSpc>
            </a:pPr>
            <a:r>
              <a:rPr lang="en-US" sz="2199">
                <a:solidFill>
                  <a:srgbClr val="2E6D6D"/>
                </a:solidFill>
                <a:latin typeface="Aileron"/>
                <a:ea typeface="Aileron"/>
                <a:cs typeface="Aileron"/>
                <a:sym typeface="Aileron"/>
              </a:rPr>
              <a:t>The system shall provide secure user registration and login with authentication mechanisms. It shall assign role-based permissions (Administrator, Manager, Developer, Tester, etc.) to ensure users access only authorized modules and data.</a:t>
            </a:r>
          </a:p>
          <a:p>
            <a:pPr algn="just">
              <a:lnSpc>
                <a:spcPts val="2859"/>
              </a:lnSpc>
            </a:pPr>
            <a:r>
              <a:rPr lang="en-US" b="true" sz="2199">
                <a:solidFill>
                  <a:srgbClr val="2E6D6D"/>
                </a:solidFill>
                <a:latin typeface="Aileron Bold"/>
                <a:ea typeface="Aileron Bold"/>
                <a:cs typeface="Aileron Bold"/>
                <a:sym typeface="Aileron Bold"/>
              </a:rPr>
              <a:t>2. Requirement Gathering and Project Planning</a:t>
            </a:r>
          </a:p>
          <a:p>
            <a:pPr algn="just">
              <a:lnSpc>
                <a:spcPts val="2859"/>
              </a:lnSpc>
            </a:pPr>
            <a:r>
              <a:rPr lang="en-US" sz="2199">
                <a:solidFill>
                  <a:srgbClr val="2E6D6D"/>
                </a:solidFill>
                <a:latin typeface="Aileron"/>
                <a:ea typeface="Aileron"/>
                <a:cs typeface="Aileron"/>
                <a:sym typeface="Aileron"/>
              </a:rPr>
              <a:t>The platform shall allow business analysts and project managers to create, manage, prioritize, and track project requirements. It shall also support project planning, milestone creation, sprint planning, and resource allocation.</a:t>
            </a:r>
          </a:p>
          <a:p>
            <a:pPr algn="just">
              <a:lnSpc>
                <a:spcPts val="2859"/>
              </a:lnSpc>
            </a:pPr>
            <a:r>
              <a:rPr lang="en-US" b="true" sz="2199">
                <a:solidFill>
                  <a:srgbClr val="2E6D6D"/>
                </a:solidFill>
                <a:latin typeface="Aileron Bold"/>
                <a:ea typeface="Aileron Bold"/>
                <a:cs typeface="Aileron Bold"/>
                <a:sym typeface="Aileron Bold"/>
              </a:rPr>
              <a:t>3. Task Assignment and Sprint Management</a:t>
            </a:r>
          </a:p>
          <a:p>
            <a:pPr algn="just">
              <a:lnSpc>
                <a:spcPts val="2859"/>
              </a:lnSpc>
            </a:pPr>
            <a:r>
              <a:rPr lang="en-US" sz="2199">
                <a:solidFill>
                  <a:srgbClr val="2E6D6D"/>
                </a:solidFill>
                <a:latin typeface="Aileron"/>
                <a:ea typeface="Aileron"/>
                <a:cs typeface="Aileron"/>
                <a:sym typeface="Aileron"/>
              </a:rPr>
              <a:t>The system shall enable managers to assign tasks to team members, define deadlines, monitor task status, and manage Agile sprints using Scrum or Kanban boards.</a:t>
            </a:r>
          </a:p>
          <a:p>
            <a:pPr algn="just">
              <a:lnSpc>
                <a:spcPts val="2859"/>
              </a:lnSpc>
            </a:pPr>
            <a:r>
              <a:rPr lang="en-US" b="true" sz="2199">
                <a:solidFill>
                  <a:srgbClr val="2E6D6D"/>
                </a:solidFill>
                <a:latin typeface="Aileron Bold"/>
                <a:ea typeface="Aileron Bold"/>
                <a:cs typeface="Aileron Bold"/>
                <a:sym typeface="Aileron Bold"/>
              </a:rPr>
              <a:t>4. AI-Assisted Code Generation and Documentation</a:t>
            </a:r>
          </a:p>
          <a:p>
            <a:pPr algn="just">
              <a:lnSpc>
                <a:spcPts val="2859"/>
              </a:lnSpc>
            </a:pPr>
            <a:r>
              <a:rPr lang="en-US" sz="2199">
                <a:solidFill>
                  <a:srgbClr val="2E6D6D"/>
                </a:solidFill>
                <a:latin typeface="Aileron"/>
                <a:ea typeface="Aileron"/>
                <a:cs typeface="Aileron"/>
                <a:sym typeface="Aileron"/>
              </a:rPr>
              <a:t>The platform shall use Artificial Intelligence to generate code snippets, recommend solutions, create technical documentation, and assist developers in writing efficient and standardized code.</a:t>
            </a:r>
          </a:p>
          <a:p>
            <a:pPr algn="just">
              <a:lnSpc>
                <a:spcPts val="2859"/>
              </a:lnSpc>
            </a:pPr>
            <a:r>
              <a:rPr lang="en-US" b="true" sz="2199">
                <a:solidFill>
                  <a:srgbClr val="2E6D6D"/>
                </a:solidFill>
                <a:latin typeface="Aileron Bold"/>
                <a:ea typeface="Aileron Bold"/>
                <a:cs typeface="Aileron Bold"/>
                <a:sym typeface="Aileron Bold"/>
              </a:rPr>
              <a:t>5. Git Integration and Version Control</a:t>
            </a:r>
          </a:p>
          <a:p>
            <a:pPr algn="just">
              <a:lnSpc>
                <a:spcPts val="2859"/>
              </a:lnSpc>
            </a:pPr>
            <a:r>
              <a:rPr lang="en-US" sz="2199">
                <a:solidFill>
                  <a:srgbClr val="2E6D6D"/>
                </a:solidFill>
                <a:latin typeface="Aileron"/>
                <a:ea typeface="Aileron"/>
                <a:cs typeface="Aileron"/>
                <a:sym typeface="Aileron"/>
              </a:rPr>
              <a:t>The system shall integrate with Git repositories to support source code management, branch creation, version tracking, pull requests, merge operations, and code reviews.</a:t>
            </a:r>
          </a:p>
          <a:p>
            <a:pPr algn="just">
              <a:lnSpc>
                <a:spcPts val="2859"/>
              </a:lnSpc>
            </a:pPr>
          </a:p>
        </p:txBody>
      </p:sp>
      <p:sp>
        <p:nvSpPr>
          <p:cNvPr name="TextBox 5" id="5"/>
          <p:cNvSpPr txBox="true"/>
          <p:nvPr/>
        </p:nvSpPr>
        <p:spPr>
          <a:xfrm rot="0">
            <a:off x="9360836" y="1498618"/>
            <a:ext cx="8457418" cy="6868160"/>
          </a:xfrm>
          <a:prstGeom prst="rect">
            <a:avLst/>
          </a:prstGeom>
        </p:spPr>
        <p:txBody>
          <a:bodyPr anchor="t" rtlCol="false" tIns="0" lIns="0" bIns="0" rIns="0">
            <a:spAutoFit/>
          </a:bodyPr>
          <a:lstStyle/>
          <a:p>
            <a:pPr algn="just">
              <a:lnSpc>
                <a:spcPts val="2859"/>
              </a:lnSpc>
            </a:pPr>
            <a:r>
              <a:rPr lang="en-US" sz="2199" b="true">
                <a:solidFill>
                  <a:srgbClr val="2E6D6D"/>
                </a:solidFill>
                <a:latin typeface="Aileron Bold"/>
                <a:ea typeface="Aileron Bold"/>
                <a:cs typeface="Aileron Bold"/>
                <a:sym typeface="Aileron Bold"/>
              </a:rPr>
              <a:t>6</a:t>
            </a:r>
            <a:r>
              <a:rPr lang="en-US" b="true" sz="2199">
                <a:solidFill>
                  <a:srgbClr val="2E6D6D"/>
                </a:solidFill>
                <a:latin typeface="Aileron Bold"/>
                <a:ea typeface="Aileron Bold"/>
                <a:cs typeface="Aileron Bold"/>
                <a:sym typeface="Aileron Bold"/>
              </a:rPr>
              <a:t>. Automated Testing and Bug Tracking</a:t>
            </a:r>
          </a:p>
          <a:p>
            <a:pPr algn="just">
              <a:lnSpc>
                <a:spcPts val="2859"/>
              </a:lnSpc>
            </a:pPr>
            <a:r>
              <a:rPr lang="en-US" sz="2199">
                <a:solidFill>
                  <a:srgbClr val="2E6D6D"/>
                </a:solidFill>
                <a:latin typeface="Aileron"/>
                <a:ea typeface="Aileron"/>
                <a:cs typeface="Aileron"/>
                <a:sym typeface="Aileron"/>
              </a:rPr>
              <a:t>The platform shall support automated testing, execute test cases, identify software defects, generate test reports, and provide a centralized bug tracking system for issue management.</a:t>
            </a:r>
          </a:p>
          <a:p>
            <a:pPr algn="just">
              <a:lnSpc>
                <a:spcPts val="2859"/>
              </a:lnSpc>
            </a:pPr>
            <a:r>
              <a:rPr lang="en-US" b="true" sz="2199">
                <a:solidFill>
                  <a:srgbClr val="2E6D6D"/>
                </a:solidFill>
                <a:latin typeface="Aileron Bold"/>
                <a:ea typeface="Aileron Bold"/>
                <a:cs typeface="Aileron Bold"/>
                <a:sym typeface="Aileron Bold"/>
              </a:rPr>
              <a:t>7. CI/CD Pipeline for Build and Deployment</a:t>
            </a:r>
          </a:p>
          <a:p>
            <a:pPr algn="just">
              <a:lnSpc>
                <a:spcPts val="2859"/>
              </a:lnSpc>
            </a:pPr>
            <a:r>
              <a:rPr lang="en-US" sz="2199">
                <a:solidFill>
                  <a:srgbClr val="2E6D6D"/>
                </a:solidFill>
                <a:latin typeface="Aileron"/>
                <a:ea typeface="Aileron"/>
                <a:cs typeface="Aileron"/>
                <a:sym typeface="Aileron"/>
              </a:rPr>
              <a:t>The system shall automate software building, testing, and deployment through Continuous Integration and Continuous Deployment (CI/CD) pipelines, ensuring faster and more reliable software releases.</a:t>
            </a:r>
          </a:p>
          <a:p>
            <a:pPr algn="just">
              <a:lnSpc>
                <a:spcPts val="2859"/>
              </a:lnSpc>
            </a:pPr>
            <a:r>
              <a:rPr lang="en-US" b="true" sz="2199">
                <a:solidFill>
                  <a:srgbClr val="2E6D6D"/>
                </a:solidFill>
                <a:latin typeface="Aileron Bold"/>
                <a:ea typeface="Aileron Bold"/>
                <a:cs typeface="Aileron Bold"/>
                <a:sym typeface="Aileron Bold"/>
              </a:rPr>
              <a:t>8. Real-Time Dashboards, Reports, and Project Analytics</a:t>
            </a:r>
          </a:p>
          <a:p>
            <a:pPr algn="just">
              <a:lnSpc>
                <a:spcPts val="2859"/>
              </a:lnSpc>
            </a:pPr>
            <a:r>
              <a:rPr lang="en-US" sz="2199">
                <a:solidFill>
                  <a:srgbClr val="2E6D6D"/>
                </a:solidFill>
                <a:latin typeface="Aileron"/>
                <a:ea typeface="Aileron"/>
                <a:cs typeface="Aileron"/>
                <a:sym typeface="Aileron"/>
              </a:rPr>
              <a:t>The platform shall provide interactive dashboards displaying project progress, sprint status, team productivity, bug statistics, deployment history, and performance reports for informed decision-making.</a:t>
            </a:r>
          </a:p>
          <a:p>
            <a:pPr algn="just">
              <a:lnSpc>
                <a:spcPts val="2859"/>
              </a:lnSpc>
            </a:pPr>
            <a:r>
              <a:rPr lang="en-US" b="true" sz="2199">
                <a:solidFill>
                  <a:srgbClr val="2E6D6D"/>
                </a:solidFill>
                <a:latin typeface="Aileron Bold"/>
                <a:ea typeface="Aileron Bold"/>
                <a:cs typeface="Aileron Bold"/>
                <a:sym typeface="Aileron Bold"/>
              </a:rPr>
              <a:t>9. Performance Monitoring and Maintenance Support</a:t>
            </a:r>
          </a:p>
          <a:p>
            <a:pPr algn="just">
              <a:lnSpc>
                <a:spcPts val="2859"/>
              </a:lnSpc>
            </a:pPr>
            <a:r>
              <a:rPr lang="en-US" sz="2199">
                <a:solidFill>
                  <a:srgbClr val="2E6D6D"/>
                </a:solidFill>
                <a:latin typeface="Aileron"/>
                <a:ea typeface="Aileron"/>
                <a:cs typeface="Aileron"/>
                <a:sym typeface="Aileron"/>
              </a:rPr>
              <a:t>The system shall continuously monitor application performance, server health, resource utilization, and system logs. It shall support issue detection, maintenance activities, software updates, and long-term system reliability.</a:t>
            </a:r>
          </a:p>
        </p:txBody>
      </p:sp>
      <p:sp>
        <p:nvSpPr>
          <p:cNvPr name="Freeform 6" id="6"/>
          <p:cNvSpPr/>
          <p:nvPr/>
        </p:nvSpPr>
        <p:spPr>
          <a:xfrm flipH="false" flipV="false" rot="-2201486">
            <a:off x="12330689" y="1093177"/>
            <a:ext cx="9368655" cy="9799083"/>
          </a:xfrm>
          <a:custGeom>
            <a:avLst/>
            <a:gdLst/>
            <a:ahLst/>
            <a:cxnLst/>
            <a:rect r="r" b="b" t="t" l="l"/>
            <a:pathLst>
              <a:path h="9799083" w="9368655">
                <a:moveTo>
                  <a:pt x="0" y="0"/>
                </a:moveTo>
                <a:lnTo>
                  <a:pt x="9368655" y="0"/>
                </a:lnTo>
                <a:lnTo>
                  <a:pt x="9368655" y="9799083"/>
                </a:lnTo>
                <a:lnTo>
                  <a:pt x="0" y="9799083"/>
                </a:lnTo>
                <a:lnTo>
                  <a:pt x="0" y="0"/>
                </a:lnTo>
                <a:close/>
              </a:path>
            </a:pathLst>
          </a:custGeom>
          <a:blipFill>
            <a:blip r:embed="rId4">
              <a:alphaModFix amt="71000"/>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2784413">
            <a:off x="13920256" y="3243808"/>
            <a:ext cx="5404669" cy="6129006"/>
          </a:xfrm>
          <a:custGeom>
            <a:avLst/>
            <a:gdLst/>
            <a:ahLst/>
            <a:cxnLst/>
            <a:rect r="r" b="b" t="t" l="l"/>
            <a:pathLst>
              <a:path h="6129006" w="5404669">
                <a:moveTo>
                  <a:pt x="0" y="0"/>
                </a:moveTo>
                <a:lnTo>
                  <a:pt x="5404669" y="0"/>
                </a:lnTo>
                <a:lnTo>
                  <a:pt x="5404669" y="6129006"/>
                </a:lnTo>
                <a:lnTo>
                  <a:pt x="0" y="6129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6332" y="406084"/>
            <a:ext cx="18097292" cy="1260474"/>
          </a:xfrm>
          <a:prstGeom prst="rect">
            <a:avLst/>
          </a:prstGeom>
        </p:spPr>
        <p:txBody>
          <a:bodyPr anchor="t" rtlCol="false" tIns="0" lIns="0" bIns="0" rIns="0">
            <a:spAutoFit/>
          </a:bodyPr>
          <a:lstStyle/>
          <a:p>
            <a:pPr algn="ctr" marL="0" indent="0" lvl="0">
              <a:lnSpc>
                <a:spcPts val="9199"/>
              </a:lnSpc>
            </a:pPr>
            <a:r>
              <a:rPr lang="en-US" b="true" sz="9999" spc="-129">
                <a:solidFill>
                  <a:srgbClr val="377272"/>
                </a:solidFill>
                <a:latin typeface="Bricolage Grotesque Bold"/>
                <a:ea typeface="Bricolage Grotesque Bold"/>
                <a:cs typeface="Bricolage Grotesque Bold"/>
                <a:sym typeface="Bricolage Grotesque Bold"/>
              </a:rPr>
              <a:t>Non-Functional Requirements</a:t>
            </a:r>
          </a:p>
        </p:txBody>
      </p:sp>
      <p:sp>
        <p:nvSpPr>
          <p:cNvPr name="TextBox 4" id="4"/>
          <p:cNvSpPr txBox="true"/>
          <p:nvPr/>
        </p:nvSpPr>
        <p:spPr>
          <a:xfrm rot="0">
            <a:off x="969678" y="1966786"/>
            <a:ext cx="16230600" cy="7778750"/>
          </a:xfrm>
          <a:prstGeom prst="rect">
            <a:avLst/>
          </a:prstGeom>
        </p:spPr>
        <p:txBody>
          <a:bodyPr anchor="t" rtlCol="false" tIns="0" lIns="0" bIns="0" rIns="0">
            <a:spAutoFit/>
          </a:bodyPr>
          <a:lstStyle/>
          <a:p>
            <a:pPr algn="l">
              <a:lnSpc>
                <a:spcPts val="3249"/>
              </a:lnSpc>
            </a:pPr>
            <a:r>
              <a:rPr lang="en-US" sz="2499" b="true">
                <a:solidFill>
                  <a:srgbClr val="2E6D6D"/>
                </a:solidFill>
                <a:latin typeface="Aileron Bold"/>
                <a:ea typeface="Aileron Bold"/>
                <a:cs typeface="Aileron Bold"/>
                <a:sym typeface="Aileron Bold"/>
              </a:rPr>
              <a:t>1. Performance</a:t>
            </a:r>
          </a:p>
          <a:p>
            <a:pPr algn="l">
              <a:lnSpc>
                <a:spcPts val="3249"/>
              </a:lnSpc>
            </a:pPr>
            <a:r>
              <a:rPr lang="en-US" sz="2499">
                <a:solidFill>
                  <a:srgbClr val="2E6D6D"/>
                </a:solidFill>
                <a:latin typeface="Aileron"/>
                <a:ea typeface="Aileron"/>
                <a:cs typeface="Aileron"/>
                <a:sym typeface="Aileron"/>
              </a:rPr>
              <a:t>The platform shall provide fast response times and efficient processing while supporting multiple concurrent users without affecting system performance. It should ensure smooth operation even under high workloads.</a:t>
            </a:r>
          </a:p>
          <a:p>
            <a:pPr algn="l">
              <a:lnSpc>
                <a:spcPts val="3249"/>
              </a:lnSpc>
            </a:pPr>
          </a:p>
          <a:p>
            <a:pPr algn="l">
              <a:lnSpc>
                <a:spcPts val="3249"/>
              </a:lnSpc>
            </a:pPr>
            <a:r>
              <a:rPr lang="en-US" sz="2499" b="true">
                <a:solidFill>
                  <a:srgbClr val="2E6D6D"/>
                </a:solidFill>
                <a:latin typeface="Aileron Bold"/>
                <a:ea typeface="Aileron Bold"/>
                <a:cs typeface="Aileron Bold"/>
                <a:sym typeface="Aileron Bold"/>
              </a:rPr>
              <a:t>2. Security</a:t>
            </a:r>
          </a:p>
          <a:p>
            <a:pPr algn="l">
              <a:lnSpc>
                <a:spcPts val="3249"/>
              </a:lnSpc>
            </a:pPr>
            <a:r>
              <a:rPr lang="en-US" sz="2499">
                <a:solidFill>
                  <a:srgbClr val="2E6D6D"/>
                </a:solidFill>
                <a:latin typeface="Aileron"/>
                <a:ea typeface="Aileron"/>
                <a:cs typeface="Aileron"/>
                <a:sym typeface="Aileron"/>
              </a:rPr>
              <a:t>The system shall implement secure user authentication, data encryption, role-based access control, and audit logs to protect sensitive information and prevent unauthorized access.</a:t>
            </a:r>
          </a:p>
          <a:p>
            <a:pPr algn="l">
              <a:lnSpc>
                <a:spcPts val="3249"/>
              </a:lnSpc>
            </a:pPr>
          </a:p>
          <a:p>
            <a:pPr algn="l">
              <a:lnSpc>
                <a:spcPts val="3249"/>
              </a:lnSpc>
            </a:pPr>
            <a:r>
              <a:rPr lang="en-US" sz="2499" b="true">
                <a:solidFill>
                  <a:srgbClr val="2E6D6D"/>
                </a:solidFill>
                <a:latin typeface="Aileron Bold"/>
                <a:ea typeface="Aileron Bold"/>
                <a:cs typeface="Aileron Bold"/>
                <a:sym typeface="Aileron Bold"/>
              </a:rPr>
              <a:t>3. Scalability</a:t>
            </a:r>
          </a:p>
          <a:p>
            <a:pPr algn="l">
              <a:lnSpc>
                <a:spcPts val="3249"/>
              </a:lnSpc>
            </a:pPr>
            <a:r>
              <a:rPr lang="en-US" sz="2499">
                <a:solidFill>
                  <a:srgbClr val="2E6D6D"/>
                </a:solidFill>
                <a:latin typeface="Aileron"/>
                <a:ea typeface="Aileron"/>
                <a:cs typeface="Aileron"/>
                <a:sym typeface="Aileron"/>
              </a:rPr>
              <a:t>The platform shall be capable of handling projects of different sizes and support horizontal scaling through cloud infrastructure, allowing it to accommodate growing users, data, and workloads.</a:t>
            </a:r>
          </a:p>
          <a:p>
            <a:pPr algn="l">
              <a:lnSpc>
                <a:spcPts val="3249"/>
              </a:lnSpc>
            </a:pPr>
          </a:p>
          <a:p>
            <a:pPr algn="l">
              <a:lnSpc>
                <a:spcPts val="3249"/>
              </a:lnSpc>
            </a:pPr>
            <a:r>
              <a:rPr lang="en-US" sz="2499" b="true">
                <a:solidFill>
                  <a:srgbClr val="2E6D6D"/>
                </a:solidFill>
                <a:latin typeface="Aileron Bold"/>
                <a:ea typeface="Aileron Bold"/>
                <a:cs typeface="Aileron Bold"/>
                <a:sym typeface="Aileron Bold"/>
              </a:rPr>
              <a:t>4. Reliability</a:t>
            </a:r>
          </a:p>
          <a:p>
            <a:pPr algn="l">
              <a:lnSpc>
                <a:spcPts val="3249"/>
              </a:lnSpc>
            </a:pPr>
            <a:r>
              <a:rPr lang="en-US" sz="2499">
                <a:solidFill>
                  <a:srgbClr val="2E6D6D"/>
                </a:solidFill>
                <a:latin typeface="Aileron"/>
                <a:ea typeface="Aileron"/>
                <a:cs typeface="Aileron"/>
                <a:sym typeface="Aileron"/>
              </a:rPr>
              <a:t>The system shall ensure high availability with minimal downtime by providing automatic backup, disaster recovery, fault tolerance, and reliable data recovery mechanisms.</a:t>
            </a:r>
          </a:p>
          <a:p>
            <a:pPr algn="l">
              <a:lnSpc>
                <a:spcPts val="3249"/>
              </a:lnSpc>
            </a:pPr>
          </a:p>
          <a:p>
            <a:pPr algn="l">
              <a:lnSpc>
                <a:spcPts val="3249"/>
              </a:lnSpc>
            </a:pPr>
            <a:r>
              <a:rPr lang="en-US" sz="2499" b="true">
                <a:solidFill>
                  <a:srgbClr val="2E6D6D"/>
                </a:solidFill>
                <a:latin typeface="Aileron Bold"/>
                <a:ea typeface="Aileron Bold"/>
                <a:cs typeface="Aileron Bold"/>
                <a:sym typeface="Aileron Bold"/>
              </a:rPr>
              <a:t>5. Usability</a:t>
            </a:r>
          </a:p>
          <a:p>
            <a:pPr algn="l">
              <a:lnSpc>
                <a:spcPts val="3249"/>
              </a:lnSpc>
            </a:pPr>
            <a:r>
              <a:rPr lang="en-US" sz="2499">
                <a:solidFill>
                  <a:srgbClr val="2E6D6D"/>
                </a:solidFill>
                <a:latin typeface="Aileron"/>
                <a:ea typeface="Aileron"/>
                <a:cs typeface="Aileron"/>
                <a:sym typeface="Aileron"/>
              </a:rPr>
              <a:t>The platform shall provide a user-friendly, intuitive, and responsive interface that is easy to navigate and accessible across desktops, tablets, and mobile devices, ensuring a consistent user experience.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5063590" y="-1877456"/>
            <a:ext cx="4391419" cy="4979960"/>
          </a:xfrm>
          <a:custGeom>
            <a:avLst/>
            <a:gdLst/>
            <a:ahLst/>
            <a:cxnLst/>
            <a:rect r="r" b="b" t="t" l="l"/>
            <a:pathLst>
              <a:path h="4979960" w="4391419">
                <a:moveTo>
                  <a:pt x="0" y="0"/>
                </a:moveTo>
                <a:lnTo>
                  <a:pt x="4391420" y="0"/>
                </a:lnTo>
                <a:lnTo>
                  <a:pt x="4391420" y="4979960"/>
                </a:lnTo>
                <a:lnTo>
                  <a:pt x="0" y="497996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719693">
            <a:off x="-325908" y="5644889"/>
            <a:ext cx="5702562" cy="6466823"/>
          </a:xfrm>
          <a:custGeom>
            <a:avLst/>
            <a:gdLst/>
            <a:ahLst/>
            <a:cxnLst/>
            <a:rect r="r" b="b" t="t" l="l"/>
            <a:pathLst>
              <a:path h="6466823" w="5702562">
                <a:moveTo>
                  <a:pt x="0" y="0"/>
                </a:moveTo>
                <a:lnTo>
                  <a:pt x="5702561" y="0"/>
                </a:lnTo>
                <a:lnTo>
                  <a:pt x="5702561" y="6466823"/>
                </a:lnTo>
                <a:lnTo>
                  <a:pt x="0" y="64668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761694"/>
            <a:ext cx="16230600" cy="1512570"/>
          </a:xfrm>
          <a:prstGeom prst="rect">
            <a:avLst/>
          </a:prstGeom>
        </p:spPr>
        <p:txBody>
          <a:bodyPr anchor="t" rtlCol="false" tIns="0" lIns="0" bIns="0" rIns="0">
            <a:spAutoFit/>
          </a:bodyPr>
          <a:lstStyle/>
          <a:p>
            <a:pPr algn="l" marL="0" indent="0" lvl="0">
              <a:lnSpc>
                <a:spcPts val="11040"/>
              </a:lnSpc>
            </a:pPr>
            <a:r>
              <a:rPr lang="en-US" b="true" sz="12000" spc="-156">
                <a:solidFill>
                  <a:srgbClr val="377272"/>
                </a:solidFill>
                <a:latin typeface="Bricolage Grotesque Bold"/>
                <a:ea typeface="Bricolage Grotesque Bold"/>
                <a:cs typeface="Bricolage Grotesque Bold"/>
                <a:sym typeface="Bricolage Grotesque Bold"/>
              </a:rPr>
              <a:t>Technology Stack</a:t>
            </a:r>
          </a:p>
        </p:txBody>
      </p:sp>
      <p:sp>
        <p:nvSpPr>
          <p:cNvPr name="Freeform 5" id="5"/>
          <p:cNvSpPr/>
          <p:nvPr/>
        </p:nvSpPr>
        <p:spPr>
          <a:xfrm flipH="false" flipV="false" rot="7314118">
            <a:off x="6004941" y="5846986"/>
            <a:ext cx="6016318" cy="6822629"/>
          </a:xfrm>
          <a:custGeom>
            <a:avLst/>
            <a:gdLst/>
            <a:ahLst/>
            <a:cxnLst/>
            <a:rect r="r" b="b" t="t" l="l"/>
            <a:pathLst>
              <a:path h="6822629" w="6016318">
                <a:moveTo>
                  <a:pt x="0" y="0"/>
                </a:moveTo>
                <a:lnTo>
                  <a:pt x="6016318" y="0"/>
                </a:lnTo>
                <a:lnTo>
                  <a:pt x="6016318" y="6822628"/>
                </a:lnTo>
                <a:lnTo>
                  <a:pt x="0" y="6822628"/>
                </a:lnTo>
                <a:lnTo>
                  <a:pt x="0" y="0"/>
                </a:lnTo>
                <a:close/>
              </a:path>
            </a:pathLst>
          </a:custGeom>
          <a:blipFill>
            <a:blip r:embed="rId4">
              <a:alphaModFix amt="6000"/>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2652713"/>
            <a:ext cx="6634571" cy="5010150"/>
          </a:xfrm>
          <a:prstGeom prst="rect">
            <a:avLst/>
          </a:prstGeom>
        </p:spPr>
        <p:txBody>
          <a:bodyPr anchor="t" rtlCol="false" tIns="0" lIns="0" bIns="0" rIns="0">
            <a:spAutoFit/>
          </a:bodyPr>
          <a:lstStyle/>
          <a:p>
            <a:pPr algn="l">
              <a:lnSpc>
                <a:spcPts val="2699"/>
              </a:lnSpc>
            </a:pPr>
            <a:r>
              <a:rPr lang="en-US" sz="2499" spc="-17" b="true">
                <a:solidFill>
                  <a:srgbClr val="2E6D6D"/>
                </a:solidFill>
                <a:latin typeface="Aileron Bold"/>
                <a:ea typeface="Aileron Bold"/>
                <a:cs typeface="Aileron Bold"/>
                <a:sym typeface="Aileron Bold"/>
              </a:rPr>
              <a:t>Frontend:</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React.js / Angular</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Backend:</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Spring Boot / Node.js</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Database:</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PostgreSQL / MongoDB</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Version Control:</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Git, GitHub/GitLab</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DevOps:</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Jenkins, Docker, Kubernetes</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Cloud:</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AWS, Azure, Google Cloud</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AI:</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OpenAI API, TensorFlow/PyTorch</a:t>
            </a:r>
          </a:p>
          <a:p>
            <a:pPr algn="l">
              <a:lnSpc>
                <a:spcPts val="2699"/>
              </a:lnSpc>
            </a:pPr>
          </a:p>
          <a:p>
            <a:pPr algn="l">
              <a:lnSpc>
                <a:spcPts val="2699"/>
              </a:lnSpc>
            </a:pPr>
            <a:r>
              <a:rPr lang="en-US" sz="2499" spc="-17" b="true">
                <a:solidFill>
                  <a:srgbClr val="2E6D6D"/>
                </a:solidFill>
                <a:latin typeface="Aileron Bold"/>
                <a:ea typeface="Aileron Bold"/>
                <a:cs typeface="Aileron Bold"/>
                <a:sym typeface="Aileron Bold"/>
              </a:rPr>
              <a:t>Monitoring:</a:t>
            </a:r>
            <a:r>
              <a:rPr lang="en-US" sz="2499" spc="-17">
                <a:solidFill>
                  <a:srgbClr val="2E6D6D"/>
                </a:solidFill>
                <a:latin typeface="Aileron Light"/>
                <a:ea typeface="Aileron Light"/>
                <a:cs typeface="Aileron Light"/>
                <a:sym typeface="Aileron Light"/>
              </a:rPr>
              <a:t> </a:t>
            </a:r>
            <a:r>
              <a:rPr lang="en-US" sz="2499" spc="-17">
                <a:solidFill>
                  <a:srgbClr val="2E6D6D"/>
                </a:solidFill>
                <a:latin typeface="Aileron"/>
                <a:ea typeface="Aileron"/>
                <a:cs typeface="Aileron"/>
                <a:sym typeface="Aileron"/>
              </a:rPr>
              <a:t>Prometheus, Grafana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2784413">
            <a:off x="13920256" y="3243808"/>
            <a:ext cx="5404669" cy="6129006"/>
          </a:xfrm>
          <a:custGeom>
            <a:avLst/>
            <a:gdLst/>
            <a:ahLst/>
            <a:cxnLst/>
            <a:rect r="r" b="b" t="t" l="l"/>
            <a:pathLst>
              <a:path h="6129006" w="5404669">
                <a:moveTo>
                  <a:pt x="0" y="0"/>
                </a:moveTo>
                <a:lnTo>
                  <a:pt x="5404669" y="0"/>
                </a:lnTo>
                <a:lnTo>
                  <a:pt x="5404669" y="6129006"/>
                </a:lnTo>
                <a:lnTo>
                  <a:pt x="0" y="612900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400491" y="527050"/>
            <a:ext cx="18097292" cy="1260474"/>
          </a:xfrm>
          <a:prstGeom prst="rect">
            <a:avLst/>
          </a:prstGeom>
        </p:spPr>
        <p:txBody>
          <a:bodyPr anchor="t" rtlCol="false" tIns="0" lIns="0" bIns="0" rIns="0">
            <a:spAutoFit/>
          </a:bodyPr>
          <a:lstStyle/>
          <a:p>
            <a:pPr algn="ctr" marL="0" indent="0" lvl="0">
              <a:lnSpc>
                <a:spcPts val="9199"/>
              </a:lnSpc>
            </a:pPr>
            <a:r>
              <a:rPr lang="en-US" b="true" sz="9999" spc="-129">
                <a:solidFill>
                  <a:srgbClr val="377272"/>
                </a:solidFill>
                <a:latin typeface="Bricolage Grotesque Bold"/>
                <a:ea typeface="Bricolage Grotesque Bold"/>
                <a:cs typeface="Bricolage Grotesque Bold"/>
                <a:sym typeface="Bricolage Grotesque Bold"/>
              </a:rPr>
              <a:t>Expected Outcomes</a:t>
            </a:r>
          </a:p>
        </p:txBody>
      </p:sp>
      <p:sp>
        <p:nvSpPr>
          <p:cNvPr name="TextBox 4" id="4"/>
          <p:cNvSpPr txBox="true"/>
          <p:nvPr/>
        </p:nvSpPr>
        <p:spPr>
          <a:xfrm rot="0">
            <a:off x="661994" y="1924559"/>
            <a:ext cx="16964013" cy="8188325"/>
          </a:xfrm>
          <a:prstGeom prst="rect">
            <a:avLst/>
          </a:prstGeom>
        </p:spPr>
        <p:txBody>
          <a:bodyPr anchor="t" rtlCol="false" tIns="0" lIns="0" bIns="0" rIns="0">
            <a:spAutoFit/>
          </a:bodyPr>
          <a:lstStyle/>
          <a:p>
            <a:pPr algn="just">
              <a:lnSpc>
                <a:spcPts val="3249"/>
              </a:lnSpc>
            </a:pPr>
            <a:r>
              <a:rPr lang="en-US" sz="2499" b="true">
                <a:solidFill>
                  <a:srgbClr val="2E6D6D"/>
                </a:solidFill>
                <a:latin typeface="Aileron Bold"/>
                <a:ea typeface="Aileron Bold"/>
                <a:cs typeface="Aileron Bold"/>
                <a:sym typeface="Aileron Bold"/>
              </a:rPr>
              <a:t>1. Faster Software Development and Deployment</a:t>
            </a:r>
          </a:p>
          <a:p>
            <a:pPr algn="just">
              <a:lnSpc>
                <a:spcPts val="3249"/>
              </a:lnSpc>
            </a:pPr>
            <a:r>
              <a:rPr lang="en-US" sz="2499">
                <a:solidFill>
                  <a:srgbClr val="2E6D6D"/>
                </a:solidFill>
                <a:latin typeface="Aileron"/>
                <a:ea typeface="Aileron"/>
                <a:cs typeface="Aileron"/>
                <a:sym typeface="Aileron"/>
              </a:rPr>
              <a:t>The platform will streamline the entire SDLC through AI-powered automation and CI/CD pipelines, reducing development time and enabling faster, more reliable software releases.</a:t>
            </a:r>
          </a:p>
          <a:p>
            <a:pPr algn="just">
              <a:lnSpc>
                <a:spcPts val="3249"/>
              </a:lnSpc>
            </a:pPr>
          </a:p>
          <a:p>
            <a:pPr algn="just">
              <a:lnSpc>
                <a:spcPts val="3249"/>
              </a:lnSpc>
            </a:pPr>
            <a:r>
              <a:rPr lang="en-US" sz="2499" b="true">
                <a:solidFill>
                  <a:srgbClr val="2E6D6D"/>
                </a:solidFill>
                <a:latin typeface="Aileron Bold"/>
                <a:ea typeface="Aileron Bold"/>
                <a:cs typeface="Aileron Bold"/>
                <a:sym typeface="Aileron Bold"/>
              </a:rPr>
              <a:t>2. Improved Collaboration Across Development Teams</a:t>
            </a:r>
          </a:p>
          <a:p>
            <a:pPr algn="just">
              <a:lnSpc>
                <a:spcPts val="3249"/>
              </a:lnSpc>
            </a:pPr>
            <a:r>
              <a:rPr lang="en-US" sz="2499">
                <a:solidFill>
                  <a:srgbClr val="2E6D6D"/>
                </a:solidFill>
                <a:latin typeface="Aileron"/>
                <a:ea typeface="Aileron"/>
                <a:cs typeface="Aileron"/>
                <a:sym typeface="Aileron"/>
              </a:rPr>
              <a:t>By providing a centralized workspace, NeuroForge will enhance communication and coordination among project managers, developers, testers, DevOps engineers, and stakeholders.</a:t>
            </a:r>
          </a:p>
          <a:p>
            <a:pPr algn="just">
              <a:lnSpc>
                <a:spcPts val="3249"/>
              </a:lnSpc>
            </a:pPr>
          </a:p>
          <a:p>
            <a:pPr algn="just">
              <a:lnSpc>
                <a:spcPts val="3249"/>
              </a:lnSpc>
            </a:pPr>
            <a:r>
              <a:rPr lang="en-US" sz="2499" b="true">
                <a:solidFill>
                  <a:srgbClr val="2E6D6D"/>
                </a:solidFill>
                <a:latin typeface="Aileron Bold"/>
                <a:ea typeface="Aileron Bold"/>
                <a:cs typeface="Aileron Bold"/>
                <a:sym typeface="Aileron Bold"/>
              </a:rPr>
              <a:t>3. Reduced Manual Effort Through AI-Driven Automation</a:t>
            </a:r>
          </a:p>
          <a:p>
            <a:pPr algn="just">
              <a:lnSpc>
                <a:spcPts val="3249"/>
              </a:lnSpc>
            </a:pPr>
            <a:r>
              <a:rPr lang="en-US" sz="2499">
                <a:solidFill>
                  <a:srgbClr val="2E6D6D"/>
                </a:solidFill>
                <a:latin typeface="Aileron"/>
                <a:ea typeface="Aileron"/>
                <a:cs typeface="Aileron"/>
                <a:sym typeface="Aileron"/>
              </a:rPr>
              <a:t>AI will automate repetitive tasks such as requirement analysis, code generation, documentation, testing, and deployment, allowing teams to focus on innovation and problem-solving.</a:t>
            </a:r>
          </a:p>
          <a:p>
            <a:pPr algn="just">
              <a:lnSpc>
                <a:spcPts val="3249"/>
              </a:lnSpc>
            </a:pPr>
          </a:p>
          <a:p>
            <a:pPr algn="just">
              <a:lnSpc>
                <a:spcPts val="3249"/>
              </a:lnSpc>
            </a:pPr>
            <a:r>
              <a:rPr lang="en-US" sz="2499" b="true">
                <a:solidFill>
                  <a:srgbClr val="2E6D6D"/>
                </a:solidFill>
                <a:latin typeface="Aileron Bold"/>
                <a:ea typeface="Aileron Bold"/>
                <a:cs typeface="Aileron Bold"/>
                <a:sym typeface="Aileron Bold"/>
              </a:rPr>
              <a:t>4. Higher Software Quality with Automated Testing and Code Reviews</a:t>
            </a:r>
          </a:p>
          <a:p>
            <a:pPr algn="just">
              <a:lnSpc>
                <a:spcPts val="3249"/>
              </a:lnSpc>
            </a:pPr>
            <a:r>
              <a:rPr lang="en-US" sz="2499">
                <a:solidFill>
                  <a:srgbClr val="2E6D6D"/>
                </a:solidFill>
                <a:latin typeface="Aileron"/>
                <a:ea typeface="Aileron"/>
                <a:cs typeface="Aileron"/>
                <a:sym typeface="Aileron"/>
              </a:rPr>
              <a:t>The platform will improve software reliability by performing continuous code analysis, automated testing, and early detection of bugs and security vulnerabilities.</a:t>
            </a:r>
          </a:p>
          <a:p>
            <a:pPr algn="just">
              <a:lnSpc>
                <a:spcPts val="3249"/>
              </a:lnSpc>
            </a:pPr>
          </a:p>
          <a:p>
            <a:pPr algn="just">
              <a:lnSpc>
                <a:spcPts val="3249"/>
              </a:lnSpc>
            </a:pPr>
            <a:r>
              <a:rPr lang="en-US" sz="2499" b="true">
                <a:solidFill>
                  <a:srgbClr val="2E6D6D"/>
                </a:solidFill>
                <a:latin typeface="Aileron Bold"/>
                <a:ea typeface="Aileron Bold"/>
                <a:cs typeface="Aileron Bold"/>
                <a:sym typeface="Aileron Bold"/>
              </a:rPr>
              <a:t>5. Better Project Visibility Using Real-Time Dashboards and Analytics</a:t>
            </a:r>
          </a:p>
          <a:p>
            <a:pPr algn="just">
              <a:lnSpc>
                <a:spcPts val="3249"/>
              </a:lnSpc>
            </a:pPr>
            <a:r>
              <a:rPr lang="en-US" sz="2499">
                <a:solidFill>
                  <a:srgbClr val="2E6D6D"/>
                </a:solidFill>
                <a:latin typeface="Aileron"/>
                <a:ea typeface="Aileron"/>
                <a:cs typeface="Aileron"/>
                <a:sym typeface="Aileron"/>
              </a:rPr>
              <a:t>Interactive dashboards and detailed reports will provide real-time insights into project progress, team productivity, sprint status, and software performance, enabling informed decision-making.</a:t>
            </a:r>
          </a:p>
          <a:p>
            <a:pPr algn="just">
              <a:lnSpc>
                <a:spcPts val="3249"/>
              </a:lnSpc>
            </a:pPr>
          </a:p>
        </p:txBody>
      </p:sp>
      <p:sp>
        <p:nvSpPr>
          <p:cNvPr name="Freeform 5" id="5"/>
          <p:cNvSpPr/>
          <p:nvPr/>
        </p:nvSpPr>
        <p:spPr>
          <a:xfrm flipH="false" flipV="false" rot="10614542">
            <a:off x="-4124265" y="-3151675"/>
            <a:ext cx="9368655" cy="9799083"/>
          </a:xfrm>
          <a:custGeom>
            <a:avLst/>
            <a:gdLst/>
            <a:ahLst/>
            <a:cxnLst/>
            <a:rect r="r" b="b" t="t" l="l"/>
            <a:pathLst>
              <a:path h="9799083" w="9368655">
                <a:moveTo>
                  <a:pt x="0" y="0"/>
                </a:moveTo>
                <a:lnTo>
                  <a:pt x="9368656" y="0"/>
                </a:lnTo>
                <a:lnTo>
                  <a:pt x="9368656" y="9799083"/>
                </a:lnTo>
                <a:lnTo>
                  <a:pt x="0" y="97990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F0EA"/>
        </a:solidFill>
      </p:bgPr>
    </p:bg>
    <p:spTree>
      <p:nvGrpSpPr>
        <p:cNvPr id="1" name=""/>
        <p:cNvGrpSpPr/>
        <p:nvPr/>
      </p:nvGrpSpPr>
      <p:grpSpPr>
        <a:xfrm>
          <a:off x="0" y="0"/>
          <a:ext cx="0" cy="0"/>
          <a:chOff x="0" y="0"/>
          <a:chExt cx="0" cy="0"/>
        </a:xfrm>
      </p:grpSpPr>
      <p:sp>
        <p:nvSpPr>
          <p:cNvPr name="Freeform 2" id="2"/>
          <p:cNvSpPr/>
          <p:nvPr/>
        </p:nvSpPr>
        <p:spPr>
          <a:xfrm flipH="false" flipV="false" rot="7314118">
            <a:off x="-2046524" y="3776605"/>
            <a:ext cx="7730547" cy="8766599"/>
          </a:xfrm>
          <a:custGeom>
            <a:avLst/>
            <a:gdLst/>
            <a:ahLst/>
            <a:cxnLst/>
            <a:rect r="r" b="b" t="t" l="l"/>
            <a:pathLst>
              <a:path h="8766599" w="7730547">
                <a:moveTo>
                  <a:pt x="0" y="0"/>
                </a:moveTo>
                <a:lnTo>
                  <a:pt x="7730547" y="0"/>
                </a:lnTo>
                <a:lnTo>
                  <a:pt x="7730547" y="8766600"/>
                </a:lnTo>
                <a:lnTo>
                  <a:pt x="0" y="8766600"/>
                </a:lnTo>
                <a:lnTo>
                  <a:pt x="0" y="0"/>
                </a:lnTo>
                <a:close/>
              </a:path>
            </a:pathLst>
          </a:custGeom>
          <a:blipFill>
            <a:blip r:embed="rId2">
              <a:alphaModFix amt="6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262638">
            <a:off x="-2056903" y="5761004"/>
            <a:ext cx="7431557" cy="7772988"/>
          </a:xfrm>
          <a:custGeom>
            <a:avLst/>
            <a:gdLst/>
            <a:ahLst/>
            <a:cxnLst/>
            <a:rect r="r" b="b" t="t" l="l"/>
            <a:pathLst>
              <a:path h="7772988" w="7431557">
                <a:moveTo>
                  <a:pt x="0" y="0"/>
                </a:moveTo>
                <a:lnTo>
                  <a:pt x="7431557" y="0"/>
                </a:lnTo>
                <a:lnTo>
                  <a:pt x="7431557" y="7772988"/>
                </a:lnTo>
                <a:lnTo>
                  <a:pt x="0" y="77729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10291582">
            <a:off x="13155984" y="-1306306"/>
            <a:ext cx="5476897" cy="6210915"/>
          </a:xfrm>
          <a:custGeom>
            <a:avLst/>
            <a:gdLst/>
            <a:ahLst/>
            <a:cxnLst/>
            <a:rect r="r" b="b" t="t" l="l"/>
            <a:pathLst>
              <a:path h="6210915" w="5476897">
                <a:moveTo>
                  <a:pt x="0" y="0"/>
                </a:moveTo>
                <a:lnTo>
                  <a:pt x="5476898" y="0"/>
                </a:lnTo>
                <a:lnTo>
                  <a:pt x="5476898" y="6210915"/>
                </a:lnTo>
                <a:lnTo>
                  <a:pt x="0" y="621091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5" id="5"/>
          <p:cNvSpPr txBox="true"/>
          <p:nvPr/>
        </p:nvSpPr>
        <p:spPr>
          <a:xfrm rot="0">
            <a:off x="1028700" y="2477954"/>
            <a:ext cx="11975624" cy="6054991"/>
          </a:xfrm>
          <a:prstGeom prst="rect">
            <a:avLst/>
          </a:prstGeom>
        </p:spPr>
        <p:txBody>
          <a:bodyPr anchor="t" rtlCol="false" tIns="0" lIns="0" bIns="0" rIns="0">
            <a:spAutoFit/>
          </a:bodyPr>
          <a:lstStyle/>
          <a:p>
            <a:pPr algn="l" marL="0" indent="0" lvl="0">
              <a:lnSpc>
                <a:spcPts val="22881"/>
              </a:lnSpc>
            </a:pPr>
            <a:r>
              <a:rPr lang="en-US" b="true" sz="25423" spc="-330">
                <a:solidFill>
                  <a:srgbClr val="2E6D6D"/>
                </a:solidFill>
                <a:latin typeface="Bricolage Grotesque Bold"/>
                <a:ea typeface="Bricolage Grotesque Bold"/>
                <a:cs typeface="Bricolage Grotesque Bold"/>
                <a:sym typeface="Bricolage Grotesque Bold"/>
              </a:rPr>
              <a:t>Thank You</a:t>
            </a:r>
          </a:p>
        </p:txBody>
      </p:sp>
      <p:sp>
        <p:nvSpPr>
          <p:cNvPr name="TextBox 6" id="6"/>
          <p:cNvSpPr txBox="true"/>
          <p:nvPr/>
        </p:nvSpPr>
        <p:spPr>
          <a:xfrm rot="0">
            <a:off x="7364643" y="8942089"/>
            <a:ext cx="3558715" cy="264794"/>
          </a:xfrm>
          <a:prstGeom prst="rect">
            <a:avLst/>
          </a:prstGeom>
        </p:spPr>
        <p:txBody>
          <a:bodyPr anchor="t" rtlCol="false" tIns="0" lIns="0" bIns="0" rIns="0">
            <a:spAutoFit/>
          </a:bodyPr>
          <a:lstStyle/>
          <a:p>
            <a:pPr algn="ctr" marL="0" indent="0" lvl="0">
              <a:lnSpc>
                <a:spcPts val="1979"/>
              </a:lnSpc>
              <a:spcBef>
                <a:spcPct val="0"/>
              </a:spcBef>
            </a:pPr>
            <a:r>
              <a:rPr lang="en-US" sz="2199">
                <a:solidFill>
                  <a:srgbClr val="377272"/>
                </a:solidFill>
                <a:latin typeface="Aileron"/>
                <a:ea typeface="Aileron"/>
                <a:cs typeface="Aileron"/>
                <a:sym typeface="Aileron"/>
              </a:rPr>
              <a:t>July 29,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DAHQkFeiYXw</dc:identifier>
  <dcterms:modified xsi:type="dcterms:W3CDTF">2011-08-01T06:04:30Z</dcterms:modified>
  <cp:revision>1</cp:revision>
  <dc:title>SRS</dc:title>
</cp:coreProperties>
</file>