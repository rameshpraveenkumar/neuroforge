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TAN Mon Cheri" charset="1" panose="00000000000000000000"/>
      <p:regular r:id="rId16"/>
    </p:embeddedFont>
    <p:embeddedFont>
      <p:font typeface="Garet" charset="1" panose="00000000000000000000"/>
      <p:regular r:id="rId17"/>
    </p:embeddedFont>
    <p:embeddedFont>
      <p:font typeface="Garet Bold" charset="1" panose="00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AF9F8"/>
        </a:solidFill>
      </p:bgPr>
    </p:bg>
    <p:spTree>
      <p:nvGrpSpPr>
        <p:cNvPr id="1" name=""/>
        <p:cNvGrpSpPr/>
        <p:nvPr/>
      </p:nvGrpSpPr>
      <p:grpSpPr>
        <a:xfrm>
          <a:off x="0" y="0"/>
          <a:ext cx="0" cy="0"/>
          <a:chOff x="0" y="0"/>
          <a:chExt cx="0" cy="0"/>
        </a:xfrm>
      </p:grpSpPr>
      <p:sp>
        <p:nvSpPr>
          <p:cNvPr name="TextBox 2" id="2"/>
          <p:cNvSpPr txBox="true"/>
          <p:nvPr/>
        </p:nvSpPr>
        <p:spPr>
          <a:xfrm rot="0">
            <a:off x="1028700" y="2093901"/>
            <a:ext cx="16230600" cy="3479801"/>
          </a:xfrm>
          <a:prstGeom prst="rect">
            <a:avLst/>
          </a:prstGeom>
        </p:spPr>
        <p:txBody>
          <a:bodyPr anchor="t" rtlCol="false" tIns="0" lIns="0" bIns="0" rIns="0">
            <a:spAutoFit/>
          </a:bodyPr>
          <a:lstStyle/>
          <a:p>
            <a:pPr algn="l">
              <a:lnSpc>
                <a:spcPts val="13999"/>
              </a:lnSpc>
            </a:pPr>
            <a:r>
              <a:rPr lang="en-US" sz="9999">
                <a:solidFill>
                  <a:srgbClr val="86612A"/>
                </a:solidFill>
                <a:latin typeface="TAN Mon Cheri"/>
                <a:ea typeface="TAN Mon Cheri"/>
                <a:cs typeface="TAN Mon Cheri"/>
                <a:sym typeface="TAN Mon Cheri"/>
              </a:rPr>
              <a:t>UML(Unified Modeling Language)</a:t>
            </a:r>
          </a:p>
        </p:txBody>
      </p:sp>
      <p:sp>
        <p:nvSpPr>
          <p:cNvPr name="TextBox 3" id="3"/>
          <p:cNvSpPr txBox="true"/>
          <p:nvPr/>
        </p:nvSpPr>
        <p:spPr>
          <a:xfrm rot="0">
            <a:off x="1028700" y="5918865"/>
            <a:ext cx="10250557" cy="498817"/>
          </a:xfrm>
          <a:prstGeom prst="rect">
            <a:avLst/>
          </a:prstGeom>
        </p:spPr>
        <p:txBody>
          <a:bodyPr anchor="t" rtlCol="false" tIns="0" lIns="0" bIns="0" rIns="0">
            <a:spAutoFit/>
          </a:bodyPr>
          <a:lstStyle/>
          <a:p>
            <a:pPr algn="l">
              <a:lnSpc>
                <a:spcPts val="4006"/>
              </a:lnSpc>
            </a:pPr>
            <a:r>
              <a:rPr lang="en-US" sz="2861" spc="286">
                <a:solidFill>
                  <a:srgbClr val="86612A"/>
                </a:solidFill>
                <a:latin typeface="Garet"/>
                <a:ea typeface="Garet"/>
                <a:cs typeface="Garet"/>
                <a:sym typeface="Garet"/>
              </a:rPr>
              <a:t>NEUROFORGE ENTERPRISE SDLC PLATFORM</a:t>
            </a:r>
          </a:p>
        </p:txBody>
      </p:sp>
      <p:sp>
        <p:nvSpPr>
          <p:cNvPr name="TextBox 4" id="4"/>
          <p:cNvSpPr txBox="true"/>
          <p:nvPr/>
        </p:nvSpPr>
        <p:spPr>
          <a:xfrm rot="0">
            <a:off x="1028700" y="8338445"/>
            <a:ext cx="2517416" cy="396240"/>
          </a:xfrm>
          <a:prstGeom prst="rect">
            <a:avLst/>
          </a:prstGeom>
        </p:spPr>
        <p:txBody>
          <a:bodyPr anchor="t" rtlCol="false" tIns="0" lIns="0" bIns="0" rIns="0">
            <a:spAutoFit/>
          </a:bodyPr>
          <a:lstStyle/>
          <a:p>
            <a:pPr algn="ctr">
              <a:lnSpc>
                <a:spcPts val="3359"/>
              </a:lnSpc>
            </a:pPr>
            <a:r>
              <a:rPr lang="en-US" sz="2400">
                <a:solidFill>
                  <a:srgbClr val="86612A"/>
                </a:solidFill>
                <a:latin typeface="Garet"/>
                <a:ea typeface="Garet"/>
                <a:cs typeface="Garet"/>
                <a:sym typeface="Garet"/>
              </a:rPr>
              <a:t>Presented By :</a:t>
            </a:r>
          </a:p>
        </p:txBody>
      </p:sp>
      <p:sp>
        <p:nvSpPr>
          <p:cNvPr name="TextBox 5" id="5"/>
          <p:cNvSpPr txBox="true"/>
          <p:nvPr/>
        </p:nvSpPr>
        <p:spPr>
          <a:xfrm rot="0">
            <a:off x="3302635" y="8328920"/>
            <a:ext cx="4807258" cy="405765"/>
          </a:xfrm>
          <a:prstGeom prst="rect">
            <a:avLst/>
          </a:prstGeom>
        </p:spPr>
        <p:txBody>
          <a:bodyPr anchor="t" rtlCol="false" tIns="0" lIns="0" bIns="0" rIns="0">
            <a:spAutoFit/>
          </a:bodyPr>
          <a:lstStyle/>
          <a:p>
            <a:pPr algn="ctr">
              <a:lnSpc>
                <a:spcPts val="3359"/>
              </a:lnSpc>
            </a:pPr>
            <a:r>
              <a:rPr lang="en-US" sz="2400">
                <a:solidFill>
                  <a:srgbClr val="86612A"/>
                </a:solidFill>
                <a:latin typeface="TAN Mon Cheri"/>
                <a:ea typeface="TAN Mon Cheri"/>
                <a:cs typeface="TAN Mon Cheri"/>
                <a:sym typeface="TAN Mon Cheri"/>
              </a:rPr>
              <a:t>Praveen Kumar Ramesh</a:t>
            </a:r>
          </a:p>
        </p:txBody>
      </p:sp>
      <p:sp>
        <p:nvSpPr>
          <p:cNvPr name="TextBox 6" id="6"/>
          <p:cNvSpPr txBox="true"/>
          <p:nvPr/>
        </p:nvSpPr>
        <p:spPr>
          <a:xfrm rot="0">
            <a:off x="14556671" y="8338445"/>
            <a:ext cx="2702629" cy="396240"/>
          </a:xfrm>
          <a:prstGeom prst="rect">
            <a:avLst/>
          </a:prstGeom>
        </p:spPr>
        <p:txBody>
          <a:bodyPr anchor="t" rtlCol="false" tIns="0" lIns="0" bIns="0" rIns="0">
            <a:spAutoFit/>
          </a:bodyPr>
          <a:lstStyle/>
          <a:p>
            <a:pPr algn="l">
              <a:lnSpc>
                <a:spcPts val="3359"/>
              </a:lnSpc>
            </a:pPr>
            <a:r>
              <a:rPr lang="en-US" sz="2400" spc="240">
                <a:solidFill>
                  <a:srgbClr val="86612A"/>
                </a:solidFill>
                <a:latin typeface="Garet"/>
                <a:ea typeface="Garet"/>
                <a:cs typeface="Garet"/>
                <a:sym typeface="Garet"/>
              </a:rPr>
              <a:t>JULY 28, 2026</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AF9F8"/>
        </a:solidFill>
      </p:bgPr>
    </p:bg>
    <p:spTree>
      <p:nvGrpSpPr>
        <p:cNvPr id="1" name=""/>
        <p:cNvGrpSpPr/>
        <p:nvPr/>
      </p:nvGrpSpPr>
      <p:grpSpPr>
        <a:xfrm>
          <a:off x="0" y="0"/>
          <a:ext cx="0" cy="0"/>
          <a:chOff x="0" y="0"/>
          <a:chExt cx="0" cy="0"/>
        </a:xfrm>
      </p:grpSpPr>
      <p:sp>
        <p:nvSpPr>
          <p:cNvPr name="TextBox 2" id="2"/>
          <p:cNvSpPr txBox="true"/>
          <p:nvPr/>
        </p:nvSpPr>
        <p:spPr>
          <a:xfrm rot="0">
            <a:off x="237385" y="498604"/>
            <a:ext cx="9389595" cy="1368424"/>
          </a:xfrm>
          <a:prstGeom prst="rect">
            <a:avLst/>
          </a:prstGeom>
        </p:spPr>
        <p:txBody>
          <a:bodyPr anchor="t" rtlCol="false" tIns="0" lIns="0" bIns="0" rIns="0">
            <a:spAutoFit/>
          </a:bodyPr>
          <a:lstStyle/>
          <a:p>
            <a:pPr algn="ctr">
              <a:lnSpc>
                <a:spcPts val="11200"/>
              </a:lnSpc>
            </a:pPr>
            <a:r>
              <a:rPr lang="en-US" sz="8000">
                <a:solidFill>
                  <a:srgbClr val="86612A"/>
                </a:solidFill>
                <a:latin typeface="TAN Mon Cheri"/>
                <a:ea typeface="TAN Mon Cheri"/>
                <a:cs typeface="TAN Mon Cheri"/>
                <a:sym typeface="TAN Mon Cheri"/>
              </a:rPr>
              <a:t>What is UML?</a:t>
            </a:r>
          </a:p>
        </p:txBody>
      </p:sp>
      <p:sp>
        <p:nvSpPr>
          <p:cNvPr name="AutoShape 3" id="3"/>
          <p:cNvSpPr/>
          <p:nvPr/>
        </p:nvSpPr>
        <p:spPr>
          <a:xfrm>
            <a:off x="2657136" y="1867029"/>
            <a:ext cx="4252769" cy="0"/>
          </a:xfrm>
          <a:prstGeom prst="line">
            <a:avLst/>
          </a:prstGeom>
          <a:ln cap="flat" w="28575">
            <a:solidFill>
              <a:srgbClr val="86612A"/>
            </a:solidFill>
            <a:prstDash val="solid"/>
            <a:headEnd type="none" len="sm" w="sm"/>
            <a:tailEnd type="none" len="sm" w="sm"/>
          </a:ln>
        </p:spPr>
      </p:sp>
      <p:sp>
        <p:nvSpPr>
          <p:cNvPr name="TextBox 4" id="4"/>
          <p:cNvSpPr txBox="true"/>
          <p:nvPr/>
        </p:nvSpPr>
        <p:spPr>
          <a:xfrm rot="0">
            <a:off x="1028700" y="2575560"/>
            <a:ext cx="16230600" cy="6682740"/>
          </a:xfrm>
          <a:prstGeom prst="rect">
            <a:avLst/>
          </a:prstGeom>
        </p:spPr>
        <p:txBody>
          <a:bodyPr anchor="t" rtlCol="false" tIns="0" lIns="0" bIns="0" rIns="0">
            <a:spAutoFit/>
          </a:bodyPr>
          <a:lstStyle/>
          <a:p>
            <a:pPr algn="just">
              <a:lnSpc>
                <a:spcPts val="3359"/>
              </a:lnSpc>
            </a:pPr>
            <a:r>
              <a:rPr lang="en-US" sz="2400">
                <a:solidFill>
                  <a:srgbClr val="86612A"/>
                </a:solidFill>
                <a:latin typeface="Garet"/>
                <a:ea typeface="Garet"/>
                <a:cs typeface="Garet"/>
                <a:sym typeface="Garet"/>
              </a:rPr>
              <a:t>Unified Modeling Language (UML) is a standardized visual modeling language used in software engineering to plan, design, visualize, document, and communicate the architecture and functionality of a software system before coding begins. Rather than describing a system only with text, UML uses diagrams and graphical symbols to represent different aspects of the software, making it easier for developers, designers, testers, and stakeholders to understand how the system works.</a:t>
            </a:r>
          </a:p>
          <a:p>
            <a:pPr algn="just">
              <a:lnSpc>
                <a:spcPts val="3359"/>
              </a:lnSpc>
            </a:pPr>
          </a:p>
          <a:p>
            <a:pPr algn="just">
              <a:lnSpc>
                <a:spcPts val="3359"/>
              </a:lnSpc>
            </a:pPr>
            <a:r>
              <a:rPr lang="en-US" sz="2400">
                <a:solidFill>
                  <a:srgbClr val="86612A"/>
                </a:solidFill>
                <a:latin typeface="Garet"/>
                <a:ea typeface="Garet"/>
                <a:cs typeface="Garet"/>
                <a:sym typeface="Garet"/>
              </a:rPr>
              <a:t>UML acts as a blueprint for software development, similar to how architects create building plans before construction. It helps development teams analyze requirements, define system structure, model user interactions, and design workflows before implementation. This reduces ambiguity, improves communication, and ensures that everyone involved in the project has a clear understanding of the system.</a:t>
            </a:r>
          </a:p>
          <a:p>
            <a:pPr algn="just">
              <a:lnSpc>
                <a:spcPts val="3359"/>
              </a:lnSpc>
            </a:pPr>
          </a:p>
          <a:p>
            <a:pPr algn="just">
              <a:lnSpc>
                <a:spcPts val="3359"/>
              </a:lnSpc>
            </a:pPr>
            <a:r>
              <a:rPr lang="en-US" sz="2400">
                <a:solidFill>
                  <a:srgbClr val="86612A"/>
                </a:solidFill>
                <a:latin typeface="Garet"/>
                <a:ea typeface="Garet"/>
                <a:cs typeface="Garet"/>
                <a:sym typeface="Garet"/>
              </a:rPr>
              <a:t>UML is independent of programming languages, meaning it can be used to design software systems regardless of whether they are implemented in Java, </a:t>
            </a:r>
            <a:r>
              <a:rPr lang="en-US" sz="2400">
                <a:solidFill>
                  <a:srgbClr val="86612A"/>
                </a:solidFill>
                <a:latin typeface="Garet"/>
                <a:ea typeface="Garet"/>
                <a:cs typeface="Garet"/>
                <a:sym typeface="Garet"/>
              </a:rPr>
              <a:t>Python, C#, or any other language. It is widely used in object-oriented software development and supports all phases of the Software Development Life Cycle (SDLC), from requirement analysis to maintenance.</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AF9F8"/>
        </a:solidFill>
      </p:bgPr>
    </p:bg>
    <p:spTree>
      <p:nvGrpSpPr>
        <p:cNvPr id="1" name=""/>
        <p:cNvGrpSpPr/>
        <p:nvPr/>
      </p:nvGrpSpPr>
      <p:grpSpPr>
        <a:xfrm>
          <a:off x="0" y="0"/>
          <a:ext cx="0" cy="0"/>
          <a:chOff x="0" y="0"/>
          <a:chExt cx="0" cy="0"/>
        </a:xfrm>
      </p:grpSpPr>
      <p:sp>
        <p:nvSpPr>
          <p:cNvPr name="TextBox 2" id="2"/>
          <p:cNvSpPr txBox="true"/>
          <p:nvPr/>
        </p:nvSpPr>
        <p:spPr>
          <a:xfrm rot="0">
            <a:off x="237385" y="498604"/>
            <a:ext cx="12798337" cy="1368424"/>
          </a:xfrm>
          <a:prstGeom prst="rect">
            <a:avLst/>
          </a:prstGeom>
        </p:spPr>
        <p:txBody>
          <a:bodyPr anchor="t" rtlCol="false" tIns="0" lIns="0" bIns="0" rIns="0">
            <a:spAutoFit/>
          </a:bodyPr>
          <a:lstStyle/>
          <a:p>
            <a:pPr algn="ctr">
              <a:lnSpc>
                <a:spcPts val="11200"/>
              </a:lnSpc>
            </a:pPr>
            <a:r>
              <a:rPr lang="en-US" sz="8000">
                <a:solidFill>
                  <a:srgbClr val="86612A"/>
                </a:solidFill>
                <a:latin typeface="TAN Mon Cheri"/>
                <a:ea typeface="TAN Mon Cheri"/>
                <a:cs typeface="TAN Mon Cheri"/>
                <a:sym typeface="TAN Mon Cheri"/>
              </a:rPr>
              <a:t>Why is UML Used ?</a:t>
            </a:r>
          </a:p>
        </p:txBody>
      </p:sp>
      <p:sp>
        <p:nvSpPr>
          <p:cNvPr name="AutoShape 3" id="3"/>
          <p:cNvSpPr/>
          <p:nvPr/>
        </p:nvSpPr>
        <p:spPr>
          <a:xfrm>
            <a:off x="2657136" y="1867029"/>
            <a:ext cx="6675119" cy="0"/>
          </a:xfrm>
          <a:prstGeom prst="line">
            <a:avLst/>
          </a:prstGeom>
          <a:ln cap="flat" w="28575">
            <a:solidFill>
              <a:srgbClr val="86612A"/>
            </a:solidFill>
            <a:prstDash val="solid"/>
            <a:headEnd type="none" len="sm" w="sm"/>
            <a:tailEnd type="none" len="sm" w="sm"/>
          </a:ln>
        </p:spPr>
      </p:sp>
      <p:sp>
        <p:nvSpPr>
          <p:cNvPr name="TextBox 4" id="4"/>
          <p:cNvSpPr txBox="true"/>
          <p:nvPr/>
        </p:nvSpPr>
        <p:spPr>
          <a:xfrm rot="0">
            <a:off x="1028700" y="2575560"/>
            <a:ext cx="16230600" cy="7101840"/>
          </a:xfrm>
          <a:prstGeom prst="rect">
            <a:avLst/>
          </a:prstGeom>
        </p:spPr>
        <p:txBody>
          <a:bodyPr anchor="t" rtlCol="false" tIns="0" lIns="0" bIns="0" rIns="0">
            <a:spAutoFit/>
          </a:bodyPr>
          <a:lstStyle/>
          <a:p>
            <a:pPr algn="just" marL="518160" indent="-259080" lvl="1">
              <a:lnSpc>
                <a:spcPts val="3359"/>
              </a:lnSpc>
              <a:buFont typeface="Arial"/>
              <a:buChar char="•"/>
            </a:pPr>
            <a:r>
              <a:rPr lang="en-US" sz="2400">
                <a:solidFill>
                  <a:srgbClr val="86612A"/>
                </a:solidFill>
                <a:latin typeface="Garet"/>
                <a:ea typeface="Garet"/>
                <a:cs typeface="Garet"/>
                <a:sym typeface="Garet"/>
              </a:rPr>
              <a:t>Provides a visual blueprint of the software system.</a:t>
            </a:r>
          </a:p>
          <a:p>
            <a:pPr algn="just" marL="518160" indent="-259080" lvl="1">
              <a:lnSpc>
                <a:spcPts val="3359"/>
              </a:lnSpc>
              <a:buFont typeface="Arial"/>
              <a:buChar char="•"/>
            </a:pPr>
            <a:r>
              <a:rPr lang="en-US" sz="2400">
                <a:solidFill>
                  <a:srgbClr val="86612A"/>
                </a:solidFill>
                <a:latin typeface="Garet"/>
                <a:ea typeface="Garet"/>
                <a:cs typeface="Garet"/>
                <a:sym typeface="Garet"/>
              </a:rPr>
              <a:t>Improves communication between developers, testers, project managers, and stakeholders.</a:t>
            </a:r>
          </a:p>
          <a:p>
            <a:pPr algn="just" marL="518160" indent="-259080" lvl="1">
              <a:lnSpc>
                <a:spcPts val="3359"/>
              </a:lnSpc>
              <a:buFont typeface="Arial"/>
              <a:buChar char="•"/>
            </a:pPr>
            <a:r>
              <a:rPr lang="en-US" sz="2400">
                <a:solidFill>
                  <a:srgbClr val="86612A"/>
                </a:solidFill>
                <a:latin typeface="Garet"/>
                <a:ea typeface="Garet"/>
                <a:cs typeface="Garet"/>
                <a:sym typeface="Garet"/>
              </a:rPr>
              <a:t>Helps identify design issues before coding starts, reducing development time and cost.</a:t>
            </a:r>
          </a:p>
          <a:p>
            <a:pPr algn="just" marL="518160" indent="-259080" lvl="1">
              <a:lnSpc>
                <a:spcPts val="3359"/>
              </a:lnSpc>
              <a:buFont typeface="Arial"/>
              <a:buChar char="•"/>
            </a:pPr>
            <a:r>
              <a:rPr lang="en-US" sz="2400">
                <a:solidFill>
                  <a:srgbClr val="86612A"/>
                </a:solidFill>
                <a:latin typeface="Garet"/>
                <a:ea typeface="Garet"/>
                <a:cs typeface="Garet"/>
                <a:sym typeface="Garet"/>
              </a:rPr>
              <a:t>Documents the system for future maintenance and upgrades.</a:t>
            </a:r>
          </a:p>
          <a:p>
            <a:pPr algn="just" marL="518160" indent="-259080" lvl="1">
              <a:lnSpc>
                <a:spcPts val="3359"/>
              </a:lnSpc>
              <a:buFont typeface="Arial"/>
              <a:buChar char="•"/>
            </a:pPr>
            <a:r>
              <a:rPr lang="en-US" sz="2400">
                <a:solidFill>
                  <a:srgbClr val="86612A"/>
                </a:solidFill>
                <a:latin typeface="Garet"/>
                <a:ea typeface="Garet"/>
                <a:cs typeface="Garet"/>
                <a:sym typeface="Garet"/>
              </a:rPr>
              <a:t>Simplifies complex software systems by breaking them into understandable diagrams.</a:t>
            </a:r>
          </a:p>
          <a:p>
            <a:pPr algn="just" marL="518160" indent="-259080" lvl="1">
              <a:lnSpc>
                <a:spcPts val="3359"/>
              </a:lnSpc>
              <a:buFont typeface="Arial"/>
              <a:buChar char="•"/>
            </a:pPr>
            <a:r>
              <a:rPr lang="en-US" sz="2400">
                <a:solidFill>
                  <a:srgbClr val="86612A"/>
                </a:solidFill>
                <a:latin typeface="Garet"/>
                <a:ea typeface="Garet"/>
                <a:cs typeface="Garet"/>
                <a:sym typeface="Garet"/>
              </a:rPr>
              <a:t>Supports</a:t>
            </a:r>
            <a:r>
              <a:rPr lang="en-US" sz="2400">
                <a:solidFill>
                  <a:srgbClr val="86612A"/>
                </a:solidFill>
                <a:latin typeface="Garet"/>
                <a:ea typeface="Garet"/>
                <a:cs typeface="Garet"/>
                <a:sym typeface="Garet"/>
              </a:rPr>
              <a:t> object-oriented analysis and design, making development more structured and efficient.</a:t>
            </a:r>
          </a:p>
          <a:p>
            <a:pPr algn="just">
              <a:lnSpc>
                <a:spcPts val="3359"/>
              </a:lnSpc>
            </a:pPr>
          </a:p>
          <a:p>
            <a:pPr algn="just">
              <a:lnSpc>
                <a:spcPts val="3359"/>
              </a:lnSpc>
            </a:pPr>
            <a:r>
              <a:rPr lang="en-US" sz="2400" b="true">
                <a:solidFill>
                  <a:srgbClr val="86612A"/>
                </a:solidFill>
                <a:latin typeface="Garet Bold"/>
                <a:ea typeface="Garet Bold"/>
                <a:cs typeface="Garet Bold"/>
                <a:sym typeface="Garet Bold"/>
              </a:rPr>
              <a:t>Example</a:t>
            </a:r>
          </a:p>
          <a:p>
            <a:pPr algn="just">
              <a:lnSpc>
                <a:spcPts val="3359"/>
              </a:lnSpc>
            </a:pPr>
          </a:p>
          <a:p>
            <a:pPr algn="just">
              <a:lnSpc>
                <a:spcPts val="3359"/>
              </a:lnSpc>
            </a:pPr>
            <a:r>
              <a:rPr lang="en-US" sz="2400">
                <a:solidFill>
                  <a:srgbClr val="86612A"/>
                </a:solidFill>
                <a:latin typeface="Garet"/>
                <a:ea typeface="Garet"/>
                <a:cs typeface="Garet"/>
                <a:sym typeface="Garet"/>
              </a:rPr>
              <a:t>For the NeuroForge Enterprise SDLC Platform, UML diagrams can illustrate:</a:t>
            </a:r>
          </a:p>
          <a:p>
            <a:pPr algn="just" marL="518160" indent="-259080" lvl="1">
              <a:lnSpc>
                <a:spcPts val="3359"/>
              </a:lnSpc>
              <a:buFont typeface="Arial"/>
              <a:buChar char="•"/>
            </a:pPr>
            <a:r>
              <a:rPr lang="en-US" sz="2400">
                <a:solidFill>
                  <a:srgbClr val="86612A"/>
                </a:solidFill>
                <a:latin typeface="Garet"/>
                <a:ea typeface="Garet"/>
                <a:cs typeface="Garet"/>
                <a:sym typeface="Garet"/>
              </a:rPr>
              <a:t>Who interacts with the system (Use Case Diagram).</a:t>
            </a:r>
          </a:p>
          <a:p>
            <a:pPr algn="just" marL="518160" indent="-259080" lvl="1">
              <a:lnSpc>
                <a:spcPts val="3359"/>
              </a:lnSpc>
              <a:buFont typeface="Arial"/>
              <a:buChar char="•"/>
            </a:pPr>
            <a:r>
              <a:rPr lang="en-US" sz="2400">
                <a:solidFill>
                  <a:srgbClr val="86612A"/>
                </a:solidFill>
                <a:latin typeface="Garet"/>
                <a:ea typeface="Garet"/>
                <a:cs typeface="Garet"/>
                <a:sym typeface="Garet"/>
              </a:rPr>
              <a:t>How a process flows from start to finish (Activity Diagram).</a:t>
            </a:r>
          </a:p>
          <a:p>
            <a:pPr algn="just" marL="518160" indent="-259080" lvl="1">
              <a:lnSpc>
                <a:spcPts val="3359"/>
              </a:lnSpc>
              <a:buFont typeface="Arial"/>
              <a:buChar char="•"/>
            </a:pPr>
            <a:r>
              <a:rPr lang="en-US" sz="2400">
                <a:solidFill>
                  <a:srgbClr val="86612A"/>
                </a:solidFill>
                <a:latin typeface="Garet"/>
                <a:ea typeface="Garet"/>
                <a:cs typeface="Garet"/>
                <a:sym typeface="Garet"/>
              </a:rPr>
              <a:t>How different modules communicate over time (Sequence Diagram).</a:t>
            </a:r>
          </a:p>
          <a:p>
            <a:pPr algn="just" marL="518160" indent="-259080" lvl="1">
              <a:lnSpc>
                <a:spcPts val="3359"/>
              </a:lnSpc>
              <a:buFont typeface="Arial"/>
              <a:buChar char="•"/>
            </a:pPr>
            <a:r>
              <a:rPr lang="en-US" sz="2400">
                <a:solidFill>
                  <a:srgbClr val="86612A"/>
                </a:solidFill>
                <a:latin typeface="Garet"/>
                <a:ea typeface="Garet"/>
                <a:cs typeface="Garet"/>
                <a:sym typeface="Garet"/>
              </a:rPr>
              <a:t>The structure of the system, including classes and relationships (Class Diagram).</a:t>
            </a:r>
          </a:p>
          <a:p>
            <a:pPr algn="just">
              <a:lnSpc>
                <a:spcPts val="3359"/>
              </a:lnSpc>
            </a:pPr>
          </a:p>
          <a:p>
            <a:pPr algn="just">
              <a:lnSpc>
                <a:spcPts val="3359"/>
              </a:lnSpc>
            </a:pPr>
            <a:r>
              <a:rPr lang="en-US" sz="2400">
                <a:solidFill>
                  <a:srgbClr val="86612A"/>
                </a:solidFill>
                <a:latin typeface="Garet"/>
                <a:ea typeface="Garet"/>
                <a:cs typeface="Garet"/>
                <a:sym typeface="Garet"/>
              </a:rPr>
              <a:t>Using UML before development ensures </a:t>
            </a:r>
            <a:r>
              <a:rPr lang="en-US" sz="2400">
                <a:solidFill>
                  <a:srgbClr val="86612A"/>
                </a:solidFill>
                <a:latin typeface="Garet"/>
                <a:ea typeface="Garet"/>
                <a:cs typeface="Garet"/>
                <a:sym typeface="Garet"/>
              </a:rPr>
              <a:t>that the project is well-planned, easier to understand, and less prone to design errors, leading to the development of reliable and high-quality software.</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AF9F8"/>
        </a:solidFill>
      </p:bgPr>
    </p:bg>
    <p:spTree>
      <p:nvGrpSpPr>
        <p:cNvPr id="1" name=""/>
        <p:cNvGrpSpPr/>
        <p:nvPr/>
      </p:nvGrpSpPr>
      <p:grpSpPr>
        <a:xfrm>
          <a:off x="0" y="0"/>
          <a:ext cx="0" cy="0"/>
          <a:chOff x="0" y="0"/>
          <a:chExt cx="0" cy="0"/>
        </a:xfrm>
      </p:grpSpPr>
      <p:sp>
        <p:nvSpPr>
          <p:cNvPr name="TextBox 2" id="2"/>
          <p:cNvSpPr txBox="true"/>
          <p:nvPr/>
        </p:nvSpPr>
        <p:spPr>
          <a:xfrm rot="0">
            <a:off x="643188" y="498604"/>
            <a:ext cx="9094870" cy="1368424"/>
          </a:xfrm>
          <a:prstGeom prst="rect">
            <a:avLst/>
          </a:prstGeom>
        </p:spPr>
        <p:txBody>
          <a:bodyPr anchor="t" rtlCol="false" tIns="0" lIns="0" bIns="0" rIns="0">
            <a:spAutoFit/>
          </a:bodyPr>
          <a:lstStyle/>
          <a:p>
            <a:pPr algn="ctr">
              <a:lnSpc>
                <a:spcPts val="11200"/>
              </a:lnSpc>
            </a:pPr>
            <a:r>
              <a:rPr lang="en-US" sz="8000">
                <a:solidFill>
                  <a:srgbClr val="86612A"/>
                </a:solidFill>
                <a:latin typeface="TAN Mon Cheri"/>
                <a:ea typeface="TAN Mon Cheri"/>
                <a:cs typeface="TAN Mon Cheri"/>
                <a:sym typeface="TAN Mon Cheri"/>
              </a:rPr>
              <a:t>Types of UML </a:t>
            </a:r>
          </a:p>
        </p:txBody>
      </p:sp>
      <p:sp>
        <p:nvSpPr>
          <p:cNvPr name="AutoShape 3" id="3"/>
          <p:cNvSpPr/>
          <p:nvPr/>
        </p:nvSpPr>
        <p:spPr>
          <a:xfrm>
            <a:off x="2657136" y="1867029"/>
            <a:ext cx="4449131" cy="0"/>
          </a:xfrm>
          <a:prstGeom prst="line">
            <a:avLst/>
          </a:prstGeom>
          <a:ln cap="flat" w="28575">
            <a:solidFill>
              <a:srgbClr val="86612A"/>
            </a:solidFill>
            <a:prstDash val="solid"/>
            <a:headEnd type="none" len="sm" w="sm"/>
            <a:tailEnd type="none" len="sm" w="sm"/>
          </a:ln>
        </p:spPr>
      </p:sp>
      <p:sp>
        <p:nvSpPr>
          <p:cNvPr name="TextBox 4" id="4"/>
          <p:cNvSpPr txBox="true"/>
          <p:nvPr/>
        </p:nvSpPr>
        <p:spPr>
          <a:xfrm rot="0">
            <a:off x="1028700" y="2575560"/>
            <a:ext cx="16230600" cy="6263640"/>
          </a:xfrm>
          <a:prstGeom prst="rect">
            <a:avLst/>
          </a:prstGeom>
        </p:spPr>
        <p:txBody>
          <a:bodyPr anchor="t" rtlCol="false" tIns="0" lIns="0" bIns="0" rIns="0">
            <a:spAutoFit/>
          </a:bodyPr>
          <a:lstStyle/>
          <a:p>
            <a:pPr algn="just">
              <a:lnSpc>
                <a:spcPts val="3359"/>
              </a:lnSpc>
            </a:pPr>
            <a:r>
              <a:rPr lang="en-US" sz="2400">
                <a:solidFill>
                  <a:srgbClr val="86612A"/>
                </a:solidFill>
                <a:latin typeface="Garet"/>
                <a:ea typeface="Garet"/>
                <a:cs typeface="Garet"/>
                <a:sym typeface="Garet"/>
              </a:rPr>
              <a:t>UML diagrams are classified into two categories:</a:t>
            </a:r>
          </a:p>
          <a:p>
            <a:pPr algn="just">
              <a:lnSpc>
                <a:spcPts val="3359"/>
              </a:lnSpc>
            </a:pPr>
          </a:p>
          <a:p>
            <a:pPr algn="just">
              <a:lnSpc>
                <a:spcPts val="3359"/>
              </a:lnSpc>
            </a:pPr>
            <a:r>
              <a:rPr lang="en-US" sz="2400" b="true">
                <a:solidFill>
                  <a:srgbClr val="86612A"/>
                </a:solidFill>
                <a:latin typeface="Garet Bold"/>
                <a:ea typeface="Garet Bold"/>
                <a:cs typeface="Garet Bold"/>
                <a:sym typeface="Garet Bold"/>
              </a:rPr>
              <a:t>1. Structural Diagrams </a:t>
            </a:r>
            <a:r>
              <a:rPr lang="en-US" sz="2400">
                <a:solidFill>
                  <a:srgbClr val="86612A"/>
                </a:solidFill>
                <a:latin typeface="Garet"/>
                <a:ea typeface="Garet"/>
                <a:cs typeface="Garet"/>
                <a:sym typeface="Garet"/>
              </a:rPr>
              <a:t>– Represent the static structure of the system.</a:t>
            </a:r>
          </a:p>
          <a:p>
            <a:pPr algn="l" marL="518160" indent="-259080" lvl="1">
              <a:lnSpc>
                <a:spcPts val="3359"/>
              </a:lnSpc>
              <a:buFont typeface="Arial"/>
              <a:buChar char="•"/>
            </a:pPr>
            <a:r>
              <a:rPr lang="en-US" sz="2400">
                <a:solidFill>
                  <a:srgbClr val="86612A"/>
                </a:solidFill>
                <a:latin typeface="Garet"/>
                <a:ea typeface="Garet"/>
                <a:cs typeface="Garet"/>
                <a:sym typeface="Garet"/>
              </a:rPr>
              <a:t>Class Diagram</a:t>
            </a:r>
          </a:p>
          <a:p>
            <a:pPr algn="l" marL="518160" indent="-259080" lvl="1">
              <a:lnSpc>
                <a:spcPts val="3359"/>
              </a:lnSpc>
              <a:buFont typeface="Arial"/>
              <a:buChar char="•"/>
            </a:pPr>
            <a:r>
              <a:rPr lang="en-US" sz="2400">
                <a:solidFill>
                  <a:srgbClr val="86612A"/>
                </a:solidFill>
                <a:latin typeface="Garet"/>
                <a:ea typeface="Garet"/>
                <a:cs typeface="Garet"/>
                <a:sym typeface="Garet"/>
              </a:rPr>
              <a:t>Object Diagram</a:t>
            </a:r>
          </a:p>
          <a:p>
            <a:pPr algn="l" marL="518160" indent="-259080" lvl="1">
              <a:lnSpc>
                <a:spcPts val="3359"/>
              </a:lnSpc>
              <a:buFont typeface="Arial"/>
              <a:buChar char="•"/>
            </a:pPr>
            <a:r>
              <a:rPr lang="en-US" sz="2400">
                <a:solidFill>
                  <a:srgbClr val="86612A"/>
                </a:solidFill>
                <a:latin typeface="Garet"/>
                <a:ea typeface="Garet"/>
                <a:cs typeface="Garet"/>
                <a:sym typeface="Garet"/>
              </a:rPr>
              <a:t>Component Diagram</a:t>
            </a:r>
          </a:p>
          <a:p>
            <a:pPr algn="l" marL="518160" indent="-259080" lvl="1">
              <a:lnSpc>
                <a:spcPts val="3359"/>
              </a:lnSpc>
              <a:buFont typeface="Arial"/>
              <a:buChar char="•"/>
            </a:pPr>
            <a:r>
              <a:rPr lang="en-US" sz="2400">
                <a:solidFill>
                  <a:srgbClr val="86612A"/>
                </a:solidFill>
                <a:latin typeface="Garet"/>
                <a:ea typeface="Garet"/>
                <a:cs typeface="Garet"/>
                <a:sym typeface="Garet"/>
              </a:rPr>
              <a:t>Deployment Diagram</a:t>
            </a:r>
          </a:p>
          <a:p>
            <a:pPr algn="l" marL="518160" indent="-259080" lvl="1">
              <a:lnSpc>
                <a:spcPts val="3359"/>
              </a:lnSpc>
              <a:buFont typeface="Arial"/>
              <a:buChar char="•"/>
            </a:pPr>
            <a:r>
              <a:rPr lang="en-US" sz="2400">
                <a:solidFill>
                  <a:srgbClr val="86612A"/>
                </a:solidFill>
                <a:latin typeface="Garet"/>
                <a:ea typeface="Garet"/>
                <a:cs typeface="Garet"/>
                <a:sym typeface="Garet"/>
              </a:rPr>
              <a:t>Package Diagram</a:t>
            </a:r>
          </a:p>
          <a:p>
            <a:pPr algn="l">
              <a:lnSpc>
                <a:spcPts val="3359"/>
              </a:lnSpc>
            </a:pPr>
          </a:p>
          <a:p>
            <a:pPr algn="just">
              <a:lnSpc>
                <a:spcPts val="3359"/>
              </a:lnSpc>
            </a:pPr>
            <a:r>
              <a:rPr lang="en-US" sz="2400" b="true">
                <a:solidFill>
                  <a:srgbClr val="86612A"/>
                </a:solidFill>
                <a:latin typeface="Garet Bold"/>
                <a:ea typeface="Garet Bold"/>
                <a:cs typeface="Garet Bold"/>
                <a:sym typeface="Garet Bold"/>
              </a:rPr>
              <a:t>2. Behavioral Diagrams</a:t>
            </a:r>
            <a:r>
              <a:rPr lang="en-US" sz="2400">
                <a:solidFill>
                  <a:srgbClr val="86612A"/>
                </a:solidFill>
                <a:latin typeface="Garet"/>
                <a:ea typeface="Garet"/>
                <a:cs typeface="Garet"/>
                <a:sym typeface="Garet"/>
              </a:rPr>
              <a:t> – Represent the dynamic behavior of the system.</a:t>
            </a:r>
          </a:p>
          <a:p>
            <a:pPr algn="l" marL="518160" indent="-259080" lvl="1">
              <a:lnSpc>
                <a:spcPts val="3359"/>
              </a:lnSpc>
              <a:buFont typeface="Arial"/>
              <a:buChar char="•"/>
            </a:pPr>
            <a:r>
              <a:rPr lang="en-US" sz="2400">
                <a:solidFill>
                  <a:srgbClr val="86612A"/>
                </a:solidFill>
                <a:latin typeface="Garet"/>
                <a:ea typeface="Garet"/>
                <a:cs typeface="Garet"/>
                <a:sym typeface="Garet"/>
              </a:rPr>
              <a:t>Use Case Diagram</a:t>
            </a:r>
          </a:p>
          <a:p>
            <a:pPr algn="l" marL="518160" indent="-259080" lvl="1">
              <a:lnSpc>
                <a:spcPts val="3359"/>
              </a:lnSpc>
              <a:buFont typeface="Arial"/>
              <a:buChar char="•"/>
            </a:pPr>
            <a:r>
              <a:rPr lang="en-US" sz="2400">
                <a:solidFill>
                  <a:srgbClr val="86612A"/>
                </a:solidFill>
                <a:latin typeface="Garet"/>
                <a:ea typeface="Garet"/>
                <a:cs typeface="Garet"/>
                <a:sym typeface="Garet"/>
              </a:rPr>
              <a:t>Activity Diagram</a:t>
            </a:r>
          </a:p>
          <a:p>
            <a:pPr algn="l" marL="518160" indent="-259080" lvl="1">
              <a:lnSpc>
                <a:spcPts val="3359"/>
              </a:lnSpc>
              <a:buFont typeface="Arial"/>
              <a:buChar char="•"/>
            </a:pPr>
            <a:r>
              <a:rPr lang="en-US" sz="2400">
                <a:solidFill>
                  <a:srgbClr val="86612A"/>
                </a:solidFill>
                <a:latin typeface="Garet"/>
                <a:ea typeface="Garet"/>
                <a:cs typeface="Garet"/>
                <a:sym typeface="Garet"/>
              </a:rPr>
              <a:t>Sequence Diagram</a:t>
            </a:r>
          </a:p>
          <a:p>
            <a:pPr algn="l" marL="518160" indent="-259080" lvl="1">
              <a:lnSpc>
                <a:spcPts val="3359"/>
              </a:lnSpc>
              <a:buFont typeface="Arial"/>
              <a:buChar char="•"/>
            </a:pPr>
            <a:r>
              <a:rPr lang="en-US" sz="2400">
                <a:solidFill>
                  <a:srgbClr val="86612A"/>
                </a:solidFill>
                <a:latin typeface="Garet"/>
                <a:ea typeface="Garet"/>
                <a:cs typeface="Garet"/>
                <a:sym typeface="Garet"/>
              </a:rPr>
              <a:t>State Machine Diagram</a:t>
            </a:r>
          </a:p>
          <a:p>
            <a:pPr algn="l" marL="518160" indent="-259080" lvl="1">
              <a:lnSpc>
                <a:spcPts val="3359"/>
              </a:lnSpc>
              <a:buFont typeface="Arial"/>
              <a:buChar char="•"/>
            </a:pPr>
            <a:r>
              <a:rPr lang="en-US" sz="2400">
                <a:solidFill>
                  <a:srgbClr val="86612A"/>
                </a:solidFill>
                <a:latin typeface="Garet"/>
                <a:ea typeface="Garet"/>
                <a:cs typeface="Garet"/>
                <a:sym typeface="Garet"/>
              </a:rPr>
              <a:t>Communication Diagram</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AF9F8"/>
        </a:solidFill>
      </p:bgPr>
    </p:bg>
    <p:spTree>
      <p:nvGrpSpPr>
        <p:cNvPr id="1" name=""/>
        <p:cNvGrpSpPr/>
        <p:nvPr/>
      </p:nvGrpSpPr>
      <p:grpSpPr>
        <a:xfrm>
          <a:off x="0" y="0"/>
          <a:ext cx="0" cy="0"/>
          <a:chOff x="0" y="0"/>
          <a:chExt cx="0" cy="0"/>
        </a:xfrm>
      </p:grpSpPr>
      <p:sp>
        <p:nvSpPr>
          <p:cNvPr name="TextBox 2" id="2"/>
          <p:cNvSpPr txBox="true"/>
          <p:nvPr/>
        </p:nvSpPr>
        <p:spPr>
          <a:xfrm rot="0">
            <a:off x="501157" y="498604"/>
            <a:ext cx="12990575" cy="1368424"/>
          </a:xfrm>
          <a:prstGeom prst="rect">
            <a:avLst/>
          </a:prstGeom>
        </p:spPr>
        <p:txBody>
          <a:bodyPr anchor="t" rtlCol="false" tIns="0" lIns="0" bIns="0" rIns="0">
            <a:spAutoFit/>
          </a:bodyPr>
          <a:lstStyle/>
          <a:p>
            <a:pPr algn="ctr">
              <a:lnSpc>
                <a:spcPts val="11200"/>
              </a:lnSpc>
            </a:pPr>
            <a:r>
              <a:rPr lang="en-US" sz="8000">
                <a:solidFill>
                  <a:srgbClr val="86612A"/>
                </a:solidFill>
                <a:latin typeface="TAN Mon Cheri"/>
                <a:ea typeface="TAN Mon Cheri"/>
                <a:cs typeface="TAN Mon Cheri"/>
                <a:sym typeface="TAN Mon Cheri"/>
              </a:rPr>
              <a:t>User Case Diagram </a:t>
            </a:r>
          </a:p>
        </p:txBody>
      </p:sp>
      <p:sp>
        <p:nvSpPr>
          <p:cNvPr name="AutoShape 3" id="3"/>
          <p:cNvSpPr/>
          <p:nvPr/>
        </p:nvSpPr>
        <p:spPr>
          <a:xfrm>
            <a:off x="2657136" y="1867029"/>
            <a:ext cx="7075501" cy="0"/>
          </a:xfrm>
          <a:prstGeom prst="line">
            <a:avLst/>
          </a:prstGeom>
          <a:ln cap="flat" w="28575">
            <a:solidFill>
              <a:srgbClr val="86612A"/>
            </a:solidFill>
            <a:prstDash val="solid"/>
            <a:headEnd type="none" len="sm" w="sm"/>
            <a:tailEnd type="none" len="sm" w="sm"/>
          </a:ln>
        </p:spPr>
      </p:sp>
      <p:sp>
        <p:nvSpPr>
          <p:cNvPr name="TextBox 4" id="4"/>
          <p:cNvSpPr txBox="true"/>
          <p:nvPr/>
        </p:nvSpPr>
        <p:spPr>
          <a:xfrm rot="0">
            <a:off x="1028700" y="2575560"/>
            <a:ext cx="16230600" cy="7101840"/>
          </a:xfrm>
          <a:prstGeom prst="rect">
            <a:avLst/>
          </a:prstGeom>
        </p:spPr>
        <p:txBody>
          <a:bodyPr anchor="t" rtlCol="false" tIns="0" lIns="0" bIns="0" rIns="0">
            <a:spAutoFit/>
          </a:bodyPr>
          <a:lstStyle/>
          <a:p>
            <a:pPr algn="just">
              <a:lnSpc>
                <a:spcPts val="3359"/>
              </a:lnSpc>
            </a:pPr>
            <a:r>
              <a:rPr lang="en-US" sz="2400" b="true">
                <a:solidFill>
                  <a:srgbClr val="86612A"/>
                </a:solidFill>
                <a:latin typeface="Garet Bold"/>
                <a:ea typeface="Garet Bold"/>
                <a:cs typeface="Garet Bold"/>
                <a:sym typeface="Garet Bold"/>
              </a:rPr>
              <a:t>What is a Use Case Diagram?</a:t>
            </a:r>
          </a:p>
          <a:p>
            <a:pPr algn="just">
              <a:lnSpc>
                <a:spcPts val="3359"/>
              </a:lnSpc>
            </a:pPr>
            <a:r>
              <a:rPr lang="en-US" sz="2400">
                <a:solidFill>
                  <a:srgbClr val="86612A"/>
                </a:solidFill>
                <a:latin typeface="Garet"/>
                <a:ea typeface="Garet"/>
                <a:cs typeface="Garet"/>
                <a:sym typeface="Garet"/>
              </a:rPr>
              <a:t>A Use Case Diagram is a behavioral UML diagram that shows how users (actors) interact with a software system. It represents the system's functionalities from the user's perspective without showing implementation details.</a:t>
            </a:r>
          </a:p>
          <a:p>
            <a:pPr algn="just">
              <a:lnSpc>
                <a:spcPts val="3359"/>
              </a:lnSpc>
            </a:pPr>
          </a:p>
          <a:p>
            <a:pPr algn="just">
              <a:lnSpc>
                <a:spcPts val="3359"/>
              </a:lnSpc>
            </a:pPr>
            <a:r>
              <a:rPr lang="en-US" sz="2400" b="true">
                <a:solidFill>
                  <a:srgbClr val="86612A"/>
                </a:solidFill>
                <a:latin typeface="Garet Bold"/>
                <a:ea typeface="Garet Bold"/>
                <a:cs typeface="Garet Bold"/>
                <a:sym typeface="Garet Bold"/>
              </a:rPr>
              <a:t>Main Components</a:t>
            </a:r>
          </a:p>
          <a:p>
            <a:pPr algn="l" marL="518160" indent="-259080" lvl="1">
              <a:lnSpc>
                <a:spcPts val="3359"/>
              </a:lnSpc>
              <a:buFont typeface="Arial"/>
              <a:buChar char="•"/>
            </a:pPr>
            <a:r>
              <a:rPr lang="en-US" b="true" sz="2400">
                <a:solidFill>
                  <a:srgbClr val="86612A"/>
                </a:solidFill>
                <a:latin typeface="Garet Bold"/>
                <a:ea typeface="Garet Bold"/>
                <a:cs typeface="Garet Bold"/>
                <a:sym typeface="Garet Bold"/>
              </a:rPr>
              <a:t>Actor: </a:t>
            </a:r>
            <a:r>
              <a:rPr lang="en-US" sz="2400">
                <a:solidFill>
                  <a:srgbClr val="86612A"/>
                </a:solidFill>
                <a:latin typeface="Garet"/>
                <a:ea typeface="Garet"/>
                <a:cs typeface="Garet"/>
                <a:sym typeface="Garet"/>
              </a:rPr>
              <a:t>A person or external system interacting with the application.</a:t>
            </a:r>
          </a:p>
          <a:p>
            <a:pPr algn="l" marL="518160" indent="-259080" lvl="1">
              <a:lnSpc>
                <a:spcPts val="3359"/>
              </a:lnSpc>
              <a:buFont typeface="Arial"/>
              <a:buChar char="•"/>
            </a:pPr>
            <a:r>
              <a:rPr lang="en-US" b="true" sz="2400">
                <a:solidFill>
                  <a:srgbClr val="86612A"/>
                </a:solidFill>
                <a:latin typeface="Garet Bold"/>
                <a:ea typeface="Garet Bold"/>
                <a:cs typeface="Garet Bold"/>
                <a:sym typeface="Garet Bold"/>
              </a:rPr>
              <a:t>Use Case:</a:t>
            </a:r>
            <a:r>
              <a:rPr lang="en-US" sz="2400">
                <a:solidFill>
                  <a:srgbClr val="86612A"/>
                </a:solidFill>
                <a:latin typeface="Garet"/>
                <a:ea typeface="Garet"/>
                <a:cs typeface="Garet"/>
                <a:sym typeface="Garet"/>
              </a:rPr>
              <a:t> A function or service provided by the system.</a:t>
            </a:r>
          </a:p>
          <a:p>
            <a:pPr algn="l" marL="518160" indent="-259080" lvl="1">
              <a:lnSpc>
                <a:spcPts val="3359"/>
              </a:lnSpc>
              <a:buFont typeface="Arial"/>
              <a:buChar char="•"/>
            </a:pPr>
            <a:r>
              <a:rPr lang="en-US" b="true" sz="2400">
                <a:solidFill>
                  <a:srgbClr val="86612A"/>
                </a:solidFill>
                <a:latin typeface="Garet Bold"/>
                <a:ea typeface="Garet Bold"/>
                <a:cs typeface="Garet Bold"/>
                <a:sym typeface="Garet Bold"/>
              </a:rPr>
              <a:t>System Boundary:</a:t>
            </a:r>
            <a:r>
              <a:rPr lang="en-US" sz="2400">
                <a:solidFill>
                  <a:srgbClr val="86612A"/>
                </a:solidFill>
                <a:latin typeface="Garet"/>
                <a:ea typeface="Garet"/>
                <a:cs typeface="Garet"/>
                <a:sym typeface="Garet"/>
              </a:rPr>
              <a:t> Defines the scope of the system.</a:t>
            </a:r>
          </a:p>
          <a:p>
            <a:pPr algn="l" marL="518160" indent="-259080" lvl="1">
              <a:lnSpc>
                <a:spcPts val="3359"/>
              </a:lnSpc>
              <a:buFont typeface="Arial"/>
              <a:buChar char="•"/>
            </a:pPr>
            <a:r>
              <a:rPr lang="en-US" b="true" sz="2400">
                <a:solidFill>
                  <a:srgbClr val="86612A"/>
                </a:solidFill>
                <a:latin typeface="Garet Bold"/>
                <a:ea typeface="Garet Bold"/>
                <a:cs typeface="Garet Bold"/>
                <a:sym typeface="Garet Bold"/>
              </a:rPr>
              <a:t>Association:</a:t>
            </a:r>
            <a:r>
              <a:rPr lang="en-US" sz="2400">
                <a:solidFill>
                  <a:srgbClr val="86612A"/>
                </a:solidFill>
                <a:latin typeface="Garet"/>
                <a:ea typeface="Garet"/>
                <a:cs typeface="Garet"/>
                <a:sym typeface="Garet"/>
              </a:rPr>
              <a:t> A line showing interaction between an actor and a use case.</a:t>
            </a:r>
          </a:p>
          <a:p>
            <a:pPr algn="l">
              <a:lnSpc>
                <a:spcPts val="3359"/>
              </a:lnSpc>
            </a:pPr>
          </a:p>
          <a:p>
            <a:pPr algn="just">
              <a:lnSpc>
                <a:spcPts val="3359"/>
              </a:lnSpc>
            </a:pPr>
            <a:r>
              <a:rPr lang="en-US" sz="2400" b="true">
                <a:solidFill>
                  <a:srgbClr val="86612A"/>
                </a:solidFill>
                <a:latin typeface="Garet Bold"/>
                <a:ea typeface="Garet Bold"/>
                <a:cs typeface="Garet Bold"/>
                <a:sym typeface="Garet Bold"/>
              </a:rPr>
              <a:t>Why is it Used?</a:t>
            </a:r>
          </a:p>
          <a:p>
            <a:pPr algn="l" marL="518160" indent="-259080" lvl="1">
              <a:lnSpc>
                <a:spcPts val="3359"/>
              </a:lnSpc>
              <a:buFont typeface="Arial"/>
              <a:buChar char="•"/>
            </a:pPr>
            <a:r>
              <a:rPr lang="en-US" sz="2400">
                <a:solidFill>
                  <a:srgbClr val="86612A"/>
                </a:solidFill>
                <a:latin typeface="Garet"/>
                <a:ea typeface="Garet"/>
                <a:cs typeface="Garet"/>
                <a:sym typeface="Garet"/>
              </a:rPr>
              <a:t>Identifies system requirements.</a:t>
            </a:r>
          </a:p>
          <a:p>
            <a:pPr algn="l" marL="518160" indent="-259080" lvl="1">
              <a:lnSpc>
                <a:spcPts val="3359"/>
              </a:lnSpc>
              <a:buFont typeface="Arial"/>
              <a:buChar char="•"/>
            </a:pPr>
            <a:r>
              <a:rPr lang="en-US" sz="2400">
                <a:solidFill>
                  <a:srgbClr val="86612A"/>
                </a:solidFill>
                <a:latin typeface="Garet"/>
                <a:ea typeface="Garet"/>
                <a:cs typeface="Garet"/>
                <a:sym typeface="Garet"/>
              </a:rPr>
              <a:t>Defines user interactions with the system.</a:t>
            </a:r>
          </a:p>
          <a:p>
            <a:pPr algn="l" marL="518160" indent="-259080" lvl="1">
              <a:lnSpc>
                <a:spcPts val="3359"/>
              </a:lnSpc>
              <a:buFont typeface="Arial"/>
              <a:buChar char="•"/>
            </a:pPr>
            <a:r>
              <a:rPr lang="en-US" sz="2400">
                <a:solidFill>
                  <a:srgbClr val="86612A"/>
                </a:solidFill>
                <a:latin typeface="Garet"/>
                <a:ea typeface="Garet"/>
                <a:cs typeface="Garet"/>
                <a:sym typeface="Garet"/>
              </a:rPr>
              <a:t>Helps developers understand functional requirements.</a:t>
            </a:r>
          </a:p>
          <a:p>
            <a:pPr algn="l" marL="518160" indent="-259080" lvl="1">
              <a:lnSpc>
                <a:spcPts val="3359"/>
              </a:lnSpc>
              <a:buFont typeface="Arial"/>
              <a:buChar char="•"/>
            </a:pPr>
            <a:r>
              <a:rPr lang="en-US" sz="2400">
                <a:solidFill>
                  <a:srgbClr val="86612A"/>
                </a:solidFill>
                <a:latin typeface="Garet"/>
                <a:ea typeface="Garet"/>
                <a:cs typeface="Garet"/>
                <a:sym typeface="Garet"/>
              </a:rPr>
              <a:t>Improves communication with stakeholders.</a:t>
            </a:r>
          </a:p>
          <a:p>
            <a:pPr algn="l" marL="518160" indent="-259080" lvl="1">
              <a:lnSpc>
                <a:spcPts val="3359"/>
              </a:lnSpc>
              <a:buFont typeface="Arial"/>
              <a:buChar char="•"/>
            </a:pPr>
            <a:r>
              <a:rPr lang="en-US" sz="2400">
                <a:solidFill>
                  <a:srgbClr val="86612A"/>
                </a:solidFill>
                <a:latin typeface="Garet"/>
                <a:ea typeface="Garet"/>
                <a:cs typeface="Garet"/>
                <a:sym typeface="Garet"/>
              </a:rPr>
              <a:t>Acts as a foundation for system design and testing.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9F8"/>
        </a:solidFill>
      </p:bgPr>
    </p:bg>
    <p:spTree>
      <p:nvGrpSpPr>
        <p:cNvPr id="1" name=""/>
        <p:cNvGrpSpPr/>
        <p:nvPr/>
      </p:nvGrpSpPr>
      <p:grpSpPr>
        <a:xfrm>
          <a:off x="0" y="0"/>
          <a:ext cx="0" cy="0"/>
          <a:chOff x="0" y="0"/>
          <a:chExt cx="0" cy="0"/>
        </a:xfrm>
      </p:grpSpPr>
      <p:sp>
        <p:nvSpPr>
          <p:cNvPr name="TextBox 2" id="2"/>
          <p:cNvSpPr txBox="true"/>
          <p:nvPr/>
        </p:nvSpPr>
        <p:spPr>
          <a:xfrm rot="0">
            <a:off x="359126" y="512892"/>
            <a:ext cx="18063107" cy="1368424"/>
          </a:xfrm>
          <a:prstGeom prst="rect">
            <a:avLst/>
          </a:prstGeom>
        </p:spPr>
        <p:txBody>
          <a:bodyPr anchor="t" rtlCol="false" tIns="0" lIns="0" bIns="0" rIns="0">
            <a:spAutoFit/>
          </a:bodyPr>
          <a:lstStyle/>
          <a:p>
            <a:pPr algn="ctr">
              <a:lnSpc>
                <a:spcPts val="11200"/>
              </a:lnSpc>
            </a:pPr>
            <a:r>
              <a:rPr lang="en-US" sz="8000">
                <a:solidFill>
                  <a:srgbClr val="86612A"/>
                </a:solidFill>
                <a:latin typeface="TAN Mon Cheri"/>
                <a:ea typeface="TAN Mon Cheri"/>
                <a:cs typeface="TAN Mon Cheri"/>
                <a:sym typeface="TAN Mon Cheri"/>
              </a:rPr>
              <a:t>User Case Diagram Example </a:t>
            </a:r>
          </a:p>
        </p:txBody>
      </p:sp>
      <p:sp>
        <p:nvSpPr>
          <p:cNvPr name="AutoShape 3" id="3"/>
          <p:cNvSpPr/>
          <p:nvPr/>
        </p:nvSpPr>
        <p:spPr>
          <a:xfrm>
            <a:off x="2515105" y="1881316"/>
            <a:ext cx="13176407" cy="0"/>
          </a:xfrm>
          <a:prstGeom prst="line">
            <a:avLst/>
          </a:prstGeom>
          <a:ln cap="flat" w="28575">
            <a:solidFill>
              <a:srgbClr val="86612A"/>
            </a:solidFill>
            <a:prstDash val="solid"/>
            <a:headEnd type="none" len="sm" w="sm"/>
            <a:tailEnd type="none" len="sm" w="sm"/>
          </a:ln>
        </p:spPr>
      </p:sp>
      <p:sp>
        <p:nvSpPr>
          <p:cNvPr name="Freeform 4" id="4"/>
          <p:cNvSpPr/>
          <p:nvPr/>
        </p:nvSpPr>
        <p:spPr>
          <a:xfrm flipH="false" flipV="false" rot="0">
            <a:off x="2036408" y="2350951"/>
            <a:ext cx="14215183" cy="7596881"/>
          </a:xfrm>
          <a:custGeom>
            <a:avLst/>
            <a:gdLst/>
            <a:ahLst/>
            <a:cxnLst/>
            <a:rect r="r" b="b" t="t" l="l"/>
            <a:pathLst>
              <a:path h="7596881" w="14215183">
                <a:moveTo>
                  <a:pt x="0" y="0"/>
                </a:moveTo>
                <a:lnTo>
                  <a:pt x="14215184" y="0"/>
                </a:lnTo>
                <a:lnTo>
                  <a:pt x="14215184" y="7596881"/>
                </a:lnTo>
                <a:lnTo>
                  <a:pt x="0" y="7596881"/>
                </a:lnTo>
                <a:lnTo>
                  <a:pt x="0" y="0"/>
                </a:lnTo>
                <a:close/>
              </a:path>
            </a:pathLst>
          </a:custGeom>
          <a:blipFill>
            <a:blip r:embed="rId2"/>
            <a:stretch>
              <a:fillRect l="0" t="-1032" r="0" b="-1032"/>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9F8"/>
        </a:solidFill>
      </p:bgPr>
    </p:bg>
    <p:spTree>
      <p:nvGrpSpPr>
        <p:cNvPr id="1" name=""/>
        <p:cNvGrpSpPr/>
        <p:nvPr/>
      </p:nvGrpSpPr>
      <p:grpSpPr>
        <a:xfrm>
          <a:off x="0" y="0"/>
          <a:ext cx="0" cy="0"/>
          <a:chOff x="0" y="0"/>
          <a:chExt cx="0" cy="0"/>
        </a:xfrm>
      </p:grpSpPr>
      <p:sp>
        <p:nvSpPr>
          <p:cNvPr name="TextBox 2" id="2"/>
          <p:cNvSpPr txBox="true"/>
          <p:nvPr/>
        </p:nvSpPr>
        <p:spPr>
          <a:xfrm rot="0">
            <a:off x="492181" y="498604"/>
            <a:ext cx="18063107" cy="1368424"/>
          </a:xfrm>
          <a:prstGeom prst="rect">
            <a:avLst/>
          </a:prstGeom>
        </p:spPr>
        <p:txBody>
          <a:bodyPr anchor="t" rtlCol="false" tIns="0" lIns="0" bIns="0" rIns="0">
            <a:spAutoFit/>
          </a:bodyPr>
          <a:lstStyle/>
          <a:p>
            <a:pPr algn="ctr">
              <a:lnSpc>
                <a:spcPts val="11200"/>
              </a:lnSpc>
            </a:pPr>
            <a:r>
              <a:rPr lang="en-US" sz="8000">
                <a:solidFill>
                  <a:srgbClr val="86612A"/>
                </a:solidFill>
                <a:latin typeface="TAN Mon Cheri"/>
                <a:ea typeface="TAN Mon Cheri"/>
                <a:cs typeface="TAN Mon Cheri"/>
                <a:sym typeface="TAN Mon Cheri"/>
              </a:rPr>
              <a:t>Activity Diagram Example </a:t>
            </a:r>
          </a:p>
        </p:txBody>
      </p:sp>
      <p:sp>
        <p:nvSpPr>
          <p:cNvPr name="AutoShape 3" id="3"/>
          <p:cNvSpPr/>
          <p:nvPr/>
        </p:nvSpPr>
        <p:spPr>
          <a:xfrm>
            <a:off x="2463433" y="1867029"/>
            <a:ext cx="13361134" cy="0"/>
          </a:xfrm>
          <a:prstGeom prst="line">
            <a:avLst/>
          </a:prstGeom>
          <a:ln cap="flat" w="28575">
            <a:solidFill>
              <a:srgbClr val="86612A"/>
            </a:solidFill>
            <a:prstDash val="solid"/>
            <a:headEnd type="none" len="sm" w="sm"/>
            <a:tailEnd type="none" len="sm" w="sm"/>
          </a:ln>
        </p:spPr>
      </p:sp>
      <p:sp>
        <p:nvSpPr>
          <p:cNvPr name="Freeform 4" id="4"/>
          <p:cNvSpPr/>
          <p:nvPr/>
        </p:nvSpPr>
        <p:spPr>
          <a:xfrm flipH="false" flipV="false" rot="0">
            <a:off x="1813491" y="2290081"/>
            <a:ext cx="14661018" cy="7996919"/>
          </a:xfrm>
          <a:custGeom>
            <a:avLst/>
            <a:gdLst/>
            <a:ahLst/>
            <a:cxnLst/>
            <a:rect r="r" b="b" t="t" l="l"/>
            <a:pathLst>
              <a:path h="7996919" w="14661018">
                <a:moveTo>
                  <a:pt x="0" y="0"/>
                </a:moveTo>
                <a:lnTo>
                  <a:pt x="14661018" y="0"/>
                </a:lnTo>
                <a:lnTo>
                  <a:pt x="14661018" y="7996919"/>
                </a:lnTo>
                <a:lnTo>
                  <a:pt x="0" y="7996919"/>
                </a:lnTo>
                <a:lnTo>
                  <a:pt x="0" y="0"/>
                </a:lnTo>
                <a:close/>
              </a:path>
            </a:pathLst>
          </a:custGeom>
          <a:blipFill>
            <a:blip r:embed="rId2"/>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9F8"/>
        </a:solidFill>
      </p:bgPr>
    </p:bg>
    <p:spTree>
      <p:nvGrpSpPr>
        <p:cNvPr id="1" name=""/>
        <p:cNvGrpSpPr/>
        <p:nvPr/>
      </p:nvGrpSpPr>
      <p:grpSpPr>
        <a:xfrm>
          <a:off x="0" y="0"/>
          <a:ext cx="0" cy="0"/>
          <a:chOff x="0" y="0"/>
          <a:chExt cx="0" cy="0"/>
        </a:xfrm>
      </p:grpSpPr>
      <p:sp>
        <p:nvSpPr>
          <p:cNvPr name="TextBox 2" id="2"/>
          <p:cNvSpPr txBox="true"/>
          <p:nvPr/>
        </p:nvSpPr>
        <p:spPr>
          <a:xfrm rot="0">
            <a:off x="359126" y="512892"/>
            <a:ext cx="18063107" cy="1368424"/>
          </a:xfrm>
          <a:prstGeom prst="rect">
            <a:avLst/>
          </a:prstGeom>
        </p:spPr>
        <p:txBody>
          <a:bodyPr anchor="t" rtlCol="false" tIns="0" lIns="0" bIns="0" rIns="0">
            <a:spAutoFit/>
          </a:bodyPr>
          <a:lstStyle/>
          <a:p>
            <a:pPr algn="ctr">
              <a:lnSpc>
                <a:spcPts val="11200"/>
              </a:lnSpc>
            </a:pPr>
            <a:r>
              <a:rPr lang="en-US" sz="8000">
                <a:solidFill>
                  <a:srgbClr val="86612A"/>
                </a:solidFill>
                <a:latin typeface="TAN Mon Cheri"/>
                <a:ea typeface="TAN Mon Cheri"/>
                <a:cs typeface="TAN Mon Cheri"/>
                <a:sym typeface="TAN Mon Cheri"/>
              </a:rPr>
              <a:t>Sequence Diagram Example </a:t>
            </a:r>
          </a:p>
        </p:txBody>
      </p:sp>
      <p:sp>
        <p:nvSpPr>
          <p:cNvPr name="AutoShape 3" id="3"/>
          <p:cNvSpPr/>
          <p:nvPr/>
        </p:nvSpPr>
        <p:spPr>
          <a:xfrm>
            <a:off x="2515105" y="1881316"/>
            <a:ext cx="13176407" cy="0"/>
          </a:xfrm>
          <a:prstGeom prst="line">
            <a:avLst/>
          </a:prstGeom>
          <a:ln cap="flat" w="28575">
            <a:solidFill>
              <a:srgbClr val="86612A"/>
            </a:solidFill>
            <a:prstDash val="solid"/>
            <a:headEnd type="none" len="sm" w="sm"/>
            <a:tailEnd type="none" len="sm" w="sm"/>
          </a:ln>
        </p:spPr>
      </p:sp>
      <p:sp>
        <p:nvSpPr>
          <p:cNvPr name="Freeform 4" id="4"/>
          <p:cNvSpPr/>
          <p:nvPr/>
        </p:nvSpPr>
        <p:spPr>
          <a:xfrm flipH="false" flipV="false" rot="0">
            <a:off x="1993186" y="2486112"/>
            <a:ext cx="14301628" cy="7800888"/>
          </a:xfrm>
          <a:custGeom>
            <a:avLst/>
            <a:gdLst/>
            <a:ahLst/>
            <a:cxnLst/>
            <a:rect r="r" b="b" t="t" l="l"/>
            <a:pathLst>
              <a:path h="7800888" w="14301628">
                <a:moveTo>
                  <a:pt x="0" y="0"/>
                </a:moveTo>
                <a:lnTo>
                  <a:pt x="14301628" y="0"/>
                </a:lnTo>
                <a:lnTo>
                  <a:pt x="14301628" y="7800888"/>
                </a:lnTo>
                <a:lnTo>
                  <a:pt x="0" y="7800888"/>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9F8"/>
        </a:solidFill>
      </p:bgPr>
    </p:bg>
    <p:spTree>
      <p:nvGrpSpPr>
        <p:cNvPr id="1" name=""/>
        <p:cNvGrpSpPr/>
        <p:nvPr/>
      </p:nvGrpSpPr>
      <p:grpSpPr>
        <a:xfrm>
          <a:off x="0" y="0"/>
          <a:ext cx="0" cy="0"/>
          <a:chOff x="0" y="0"/>
          <a:chExt cx="0" cy="0"/>
        </a:xfrm>
      </p:grpSpPr>
      <p:sp>
        <p:nvSpPr>
          <p:cNvPr name="TextBox 2" id="2"/>
          <p:cNvSpPr txBox="true"/>
          <p:nvPr/>
        </p:nvSpPr>
        <p:spPr>
          <a:xfrm rot="0">
            <a:off x="359126" y="512892"/>
            <a:ext cx="18063107" cy="1368424"/>
          </a:xfrm>
          <a:prstGeom prst="rect">
            <a:avLst/>
          </a:prstGeom>
        </p:spPr>
        <p:txBody>
          <a:bodyPr anchor="t" rtlCol="false" tIns="0" lIns="0" bIns="0" rIns="0">
            <a:spAutoFit/>
          </a:bodyPr>
          <a:lstStyle/>
          <a:p>
            <a:pPr algn="ctr">
              <a:lnSpc>
                <a:spcPts val="11200"/>
              </a:lnSpc>
            </a:pPr>
            <a:r>
              <a:rPr lang="en-US" sz="8000">
                <a:solidFill>
                  <a:srgbClr val="86612A"/>
                </a:solidFill>
                <a:latin typeface="TAN Mon Cheri"/>
                <a:ea typeface="TAN Mon Cheri"/>
                <a:cs typeface="TAN Mon Cheri"/>
                <a:sym typeface="TAN Mon Cheri"/>
              </a:rPr>
              <a:t>Class Diagram Example </a:t>
            </a:r>
          </a:p>
        </p:txBody>
      </p:sp>
      <p:sp>
        <p:nvSpPr>
          <p:cNvPr name="AutoShape 3" id="3"/>
          <p:cNvSpPr/>
          <p:nvPr/>
        </p:nvSpPr>
        <p:spPr>
          <a:xfrm>
            <a:off x="2515105" y="1881316"/>
            <a:ext cx="13176407" cy="0"/>
          </a:xfrm>
          <a:prstGeom prst="line">
            <a:avLst/>
          </a:prstGeom>
          <a:ln cap="flat" w="28575">
            <a:solidFill>
              <a:srgbClr val="86612A"/>
            </a:solidFill>
            <a:prstDash val="solid"/>
            <a:headEnd type="none" len="sm" w="sm"/>
            <a:tailEnd type="none" len="sm" w="sm"/>
          </a:ln>
        </p:spPr>
      </p:sp>
      <p:sp>
        <p:nvSpPr>
          <p:cNvPr name="Freeform 4" id="4"/>
          <p:cNvSpPr/>
          <p:nvPr/>
        </p:nvSpPr>
        <p:spPr>
          <a:xfrm flipH="false" flipV="false" rot="0">
            <a:off x="1813491" y="2290081"/>
            <a:ext cx="14661018" cy="7996919"/>
          </a:xfrm>
          <a:custGeom>
            <a:avLst/>
            <a:gdLst/>
            <a:ahLst/>
            <a:cxnLst/>
            <a:rect r="r" b="b" t="t" l="l"/>
            <a:pathLst>
              <a:path h="7996919" w="14661018">
                <a:moveTo>
                  <a:pt x="0" y="0"/>
                </a:moveTo>
                <a:lnTo>
                  <a:pt x="14661018" y="0"/>
                </a:lnTo>
                <a:lnTo>
                  <a:pt x="14661018" y="7996919"/>
                </a:lnTo>
                <a:lnTo>
                  <a:pt x="0" y="7996919"/>
                </a:lnTo>
                <a:lnTo>
                  <a:pt x="0" y="0"/>
                </a:lnTo>
                <a:close/>
              </a:path>
            </a:pathLst>
          </a:custGeom>
          <a:blipFill>
            <a:blip r:embed="rId2"/>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p:cSld>
    <p:bg>
      <p:bgPr>
        <a:solidFill>
          <a:srgbClr val="FAF9F8"/>
        </a:solidFill>
      </p:bgPr>
    </p:bg>
    <p:spTree>
      <p:nvGrpSpPr>
        <p:cNvPr id="1" name=""/>
        <p:cNvGrpSpPr/>
        <p:nvPr/>
      </p:nvGrpSpPr>
      <p:grpSpPr>
        <a:xfrm>
          <a:off x="0" y="0"/>
          <a:ext cx="0" cy="0"/>
          <a:chOff x="0" y="0"/>
          <a:chExt cx="0" cy="0"/>
        </a:xfrm>
      </p:grpSpPr>
      <p:sp>
        <p:nvSpPr>
          <p:cNvPr name="TextBox 2" id="2"/>
          <p:cNvSpPr txBox="true"/>
          <p:nvPr/>
        </p:nvSpPr>
        <p:spPr>
          <a:xfrm rot="0">
            <a:off x="4427296" y="4194175"/>
            <a:ext cx="9433407" cy="1708151"/>
          </a:xfrm>
          <a:prstGeom prst="rect">
            <a:avLst/>
          </a:prstGeom>
        </p:spPr>
        <p:txBody>
          <a:bodyPr anchor="t" rtlCol="false" tIns="0" lIns="0" bIns="0" rIns="0">
            <a:spAutoFit/>
          </a:bodyPr>
          <a:lstStyle/>
          <a:p>
            <a:pPr algn="l">
              <a:lnSpc>
                <a:spcPts val="13999"/>
              </a:lnSpc>
            </a:pPr>
            <a:r>
              <a:rPr lang="en-US" sz="9999">
                <a:solidFill>
                  <a:srgbClr val="86612A"/>
                </a:solidFill>
                <a:latin typeface="TAN Mon Cheri"/>
                <a:ea typeface="TAN Mon Cheri"/>
                <a:cs typeface="TAN Mon Cheri"/>
                <a:sym typeface="TAN Mon Cheri"/>
              </a:rPr>
              <a:t>Thank You !</a:t>
            </a:r>
          </a:p>
        </p:txBody>
      </p:sp>
      <p:sp>
        <p:nvSpPr>
          <p:cNvPr name="TextBox 3" id="3"/>
          <p:cNvSpPr txBox="true"/>
          <p:nvPr/>
        </p:nvSpPr>
        <p:spPr>
          <a:xfrm rot="0">
            <a:off x="1028700" y="8338445"/>
            <a:ext cx="2314515" cy="396240"/>
          </a:xfrm>
          <a:prstGeom prst="rect">
            <a:avLst/>
          </a:prstGeom>
        </p:spPr>
        <p:txBody>
          <a:bodyPr anchor="t" rtlCol="false" tIns="0" lIns="0" bIns="0" rIns="0">
            <a:spAutoFit/>
          </a:bodyPr>
          <a:lstStyle/>
          <a:p>
            <a:pPr algn="ctr">
              <a:lnSpc>
                <a:spcPts val="3359"/>
              </a:lnSpc>
            </a:pPr>
            <a:r>
              <a:rPr lang="en-US" sz="2400">
                <a:solidFill>
                  <a:srgbClr val="86612A"/>
                </a:solidFill>
                <a:latin typeface="Garet"/>
                <a:ea typeface="Garet"/>
                <a:cs typeface="Garet"/>
                <a:sym typeface="Garet"/>
              </a:rPr>
              <a:t>Presented By :</a:t>
            </a:r>
          </a:p>
        </p:txBody>
      </p:sp>
      <p:sp>
        <p:nvSpPr>
          <p:cNvPr name="TextBox 4" id="4"/>
          <p:cNvSpPr txBox="true"/>
          <p:nvPr/>
        </p:nvSpPr>
        <p:spPr>
          <a:xfrm rot="0">
            <a:off x="3161936" y="8328920"/>
            <a:ext cx="4807258" cy="405765"/>
          </a:xfrm>
          <a:prstGeom prst="rect">
            <a:avLst/>
          </a:prstGeom>
        </p:spPr>
        <p:txBody>
          <a:bodyPr anchor="t" rtlCol="false" tIns="0" lIns="0" bIns="0" rIns="0">
            <a:spAutoFit/>
          </a:bodyPr>
          <a:lstStyle/>
          <a:p>
            <a:pPr algn="ctr">
              <a:lnSpc>
                <a:spcPts val="3359"/>
              </a:lnSpc>
            </a:pPr>
            <a:r>
              <a:rPr lang="en-US" sz="2400">
                <a:solidFill>
                  <a:srgbClr val="86612A"/>
                </a:solidFill>
                <a:latin typeface="TAN Mon Cheri"/>
                <a:ea typeface="TAN Mon Cheri"/>
                <a:cs typeface="TAN Mon Cheri"/>
                <a:sym typeface="TAN Mon Cheri"/>
              </a:rPr>
              <a:t>Praveen Kumar Ramesh</a:t>
            </a:r>
          </a:p>
        </p:txBody>
      </p:sp>
      <p:sp>
        <p:nvSpPr>
          <p:cNvPr name="TextBox 5" id="5"/>
          <p:cNvSpPr txBox="true"/>
          <p:nvPr/>
        </p:nvSpPr>
        <p:spPr>
          <a:xfrm rot="0">
            <a:off x="14556671" y="8338445"/>
            <a:ext cx="2702629" cy="396240"/>
          </a:xfrm>
          <a:prstGeom prst="rect">
            <a:avLst/>
          </a:prstGeom>
        </p:spPr>
        <p:txBody>
          <a:bodyPr anchor="t" rtlCol="false" tIns="0" lIns="0" bIns="0" rIns="0">
            <a:spAutoFit/>
          </a:bodyPr>
          <a:lstStyle/>
          <a:p>
            <a:pPr algn="l">
              <a:lnSpc>
                <a:spcPts val="3359"/>
              </a:lnSpc>
            </a:pPr>
            <a:r>
              <a:rPr lang="en-US" sz="2400" spc="240">
                <a:solidFill>
                  <a:srgbClr val="86612A"/>
                </a:solidFill>
                <a:latin typeface="Garet"/>
                <a:ea typeface="Garet"/>
                <a:cs typeface="Garet"/>
                <a:sym typeface="Garet"/>
              </a:rPr>
              <a:t>JULY 28,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DAHQrQ7L6EI</dc:identifier>
  <dcterms:modified xsi:type="dcterms:W3CDTF">2011-08-01T06:04:30Z</dcterms:modified>
  <cp:revision>1</cp:revision>
  <dc:title>UML(Unified Modeling Language</dc:title>
</cp:coreProperties>
</file>